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2945" y="63195"/>
            <a:ext cx="570610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050" y="1511299"/>
            <a:ext cx="11791899" cy="4796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071998" y="6577076"/>
            <a:ext cx="20478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19" y="6631025"/>
            <a:ext cx="1536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indiapost.gov.in/VAS/Pages/calculatePostage.aspx" TargetMode="External"/><Relationship Id="rId4" Type="http://schemas.openxmlformats.org/officeDocument/2006/relationships/hyperlink" Target="https://www.fedex.com/en-us/shipping/international/understanding-international-shipping-cost.html" TargetMode="External"/><Relationship Id="rId5" Type="http://schemas.openxmlformats.org/officeDocument/2006/relationships/hyperlink" Target="https://vceela.com/blog/our-blogs-1/the-challenges-faced-by-artisans-in-developing-countries-6" TargetMode="External"/><Relationship Id="rId6" Type="http://schemas.openxmlformats.org/officeDocument/2006/relationships/hyperlink" Target="https://ruralhandmade.com/blog/the-benefits-and-challenges-of-exporting-handmade-products" TargetMode="External"/><Relationship Id="rId7" Type="http://schemas.openxmlformats.org/officeDocument/2006/relationships/hyperlink" Target="https://catalystaic.org/artisans-in-india-and-their-quest-for-growth-understanding-the-current-set-of-capabilities-among-indian-artisans-to-adopt-digital-technology-solutions/" TargetMode="External"/><Relationship Id="rId8" Type="http://schemas.openxmlformats.org/officeDocument/2006/relationships/hyperlink" Target="https://www.forwardparcel.com/newwebsite/blog/problem-nris-face-while-shopping-from-indian-online-websites-and-how-forward-parcel-can-help/" TargetMode="External"/><Relationship Id="rId9" Type="http://schemas.openxmlformats.org/officeDocument/2006/relationships/hyperlink" Target="https://www.imarcgroup.com/india-handicrafts-market" TargetMode="External"/><Relationship Id="rId10" Type="http://schemas.openxmlformats.org/officeDocument/2006/relationships/hyperlink" Target="https://www.weforum.org/agenda/2019/09/indian-diaspora-largest-in-world-numbers/" TargetMode="External"/><Relationship Id="rId11" Type="http://schemas.openxmlformats.org/officeDocument/2006/relationships/hyperlink" Target="https://indian.handicrafts.gov.in/en" TargetMode="External"/><Relationship Id="rId12" Type="http://schemas.openxmlformats.org/officeDocument/2006/relationships/hyperlink" Target="https://ruralhandmade.com/" TargetMode="External"/><Relationship Id="rId13" Type="http://schemas.openxmlformats.org/officeDocument/2006/relationships/hyperlink" Target="https://www.directcreate.com/shop" TargetMode="External"/><Relationship Id="rId14" Type="http://schemas.openxmlformats.org/officeDocument/2006/relationships/image" Target="../media/image20.jpg"/><Relationship Id="rId15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6770" y="851535"/>
            <a:ext cx="4638675" cy="5155565"/>
          </a:xfrm>
          <a:custGeom>
            <a:avLst/>
            <a:gdLst/>
            <a:ahLst/>
            <a:cxnLst/>
            <a:rect l="l" t="t" r="r" b="b"/>
            <a:pathLst>
              <a:path w="4638675" h="5155565">
                <a:moveTo>
                  <a:pt x="1873313" y="0"/>
                </a:moveTo>
                <a:lnTo>
                  <a:pt x="1180020" y="0"/>
                </a:lnTo>
                <a:lnTo>
                  <a:pt x="1147349" y="5788"/>
                </a:lnTo>
                <a:lnTo>
                  <a:pt x="1092152" y="48702"/>
                </a:lnTo>
                <a:lnTo>
                  <a:pt x="1072197" y="83565"/>
                </a:lnTo>
                <a:lnTo>
                  <a:pt x="726249" y="881126"/>
                </a:lnTo>
                <a:lnTo>
                  <a:pt x="713605" y="920626"/>
                </a:lnTo>
                <a:lnTo>
                  <a:pt x="709390" y="962723"/>
                </a:lnTo>
                <a:lnTo>
                  <a:pt x="713605" y="1004820"/>
                </a:lnTo>
                <a:lnTo>
                  <a:pt x="726249" y="1044320"/>
                </a:lnTo>
                <a:lnTo>
                  <a:pt x="1072197" y="1842007"/>
                </a:lnTo>
                <a:lnTo>
                  <a:pt x="1092168" y="1876837"/>
                </a:lnTo>
                <a:lnTo>
                  <a:pt x="1118552" y="1903602"/>
                </a:lnTo>
                <a:lnTo>
                  <a:pt x="786955" y="2668269"/>
                </a:lnTo>
                <a:lnTo>
                  <a:pt x="769411" y="2714122"/>
                </a:lnTo>
                <a:lnTo>
                  <a:pt x="756880" y="2762295"/>
                </a:lnTo>
                <a:lnTo>
                  <a:pt x="749361" y="2812013"/>
                </a:lnTo>
                <a:lnTo>
                  <a:pt x="746855" y="2862500"/>
                </a:lnTo>
                <a:lnTo>
                  <a:pt x="749361" y="2912981"/>
                </a:lnTo>
                <a:lnTo>
                  <a:pt x="756880" y="2962681"/>
                </a:lnTo>
                <a:lnTo>
                  <a:pt x="769411" y="3010824"/>
                </a:lnTo>
                <a:lnTo>
                  <a:pt x="786955" y="3056636"/>
                </a:lnTo>
                <a:lnTo>
                  <a:pt x="1610550" y="4956022"/>
                </a:lnTo>
                <a:lnTo>
                  <a:pt x="1635991" y="5005818"/>
                </a:lnTo>
                <a:lnTo>
                  <a:pt x="1666114" y="5049317"/>
                </a:lnTo>
                <a:lnTo>
                  <a:pt x="1700357" y="5086022"/>
                </a:lnTo>
                <a:lnTo>
                  <a:pt x="1738162" y="5115434"/>
                </a:lnTo>
                <a:lnTo>
                  <a:pt x="1778968" y="5137059"/>
                </a:lnTo>
                <a:lnTo>
                  <a:pt x="1822215" y="5150398"/>
                </a:lnTo>
                <a:lnTo>
                  <a:pt x="1867344" y="5154955"/>
                </a:lnTo>
                <a:lnTo>
                  <a:pt x="3518090" y="5154955"/>
                </a:lnTo>
                <a:lnTo>
                  <a:pt x="3562089" y="5150398"/>
                </a:lnTo>
                <a:lnTo>
                  <a:pt x="3604828" y="5137059"/>
                </a:lnTo>
                <a:lnTo>
                  <a:pt x="3645500" y="5115434"/>
                </a:lnTo>
                <a:lnTo>
                  <a:pt x="3683294" y="5086022"/>
                </a:lnTo>
                <a:lnTo>
                  <a:pt x="3717402" y="5049317"/>
                </a:lnTo>
                <a:lnTo>
                  <a:pt x="3747017" y="5005818"/>
                </a:lnTo>
                <a:lnTo>
                  <a:pt x="3771328" y="4956022"/>
                </a:lnTo>
                <a:lnTo>
                  <a:pt x="4598479" y="3056635"/>
                </a:lnTo>
                <a:lnTo>
                  <a:pt x="4616023" y="3010824"/>
                </a:lnTo>
                <a:lnTo>
                  <a:pt x="4628554" y="2962681"/>
                </a:lnTo>
                <a:lnTo>
                  <a:pt x="4636073" y="2912981"/>
                </a:lnTo>
                <a:lnTo>
                  <a:pt x="4638579" y="2862500"/>
                </a:lnTo>
                <a:lnTo>
                  <a:pt x="4636073" y="2812013"/>
                </a:lnTo>
                <a:lnTo>
                  <a:pt x="4628554" y="2762295"/>
                </a:lnTo>
                <a:lnTo>
                  <a:pt x="4616023" y="2714122"/>
                </a:lnTo>
                <a:lnTo>
                  <a:pt x="4598479" y="2668269"/>
                </a:lnTo>
                <a:lnTo>
                  <a:pt x="4270937" y="1916176"/>
                </a:lnTo>
                <a:lnTo>
                  <a:pt x="1176972" y="1916176"/>
                </a:lnTo>
                <a:lnTo>
                  <a:pt x="1168640" y="1915798"/>
                </a:lnTo>
                <a:lnTo>
                  <a:pt x="1160414" y="1914683"/>
                </a:lnTo>
                <a:lnTo>
                  <a:pt x="1152308" y="1912854"/>
                </a:lnTo>
                <a:lnTo>
                  <a:pt x="1144333" y="1910334"/>
                </a:lnTo>
                <a:lnTo>
                  <a:pt x="1125029" y="1899539"/>
                </a:lnTo>
                <a:lnTo>
                  <a:pt x="1143698" y="1856739"/>
                </a:lnTo>
                <a:lnTo>
                  <a:pt x="1168717" y="1798954"/>
                </a:lnTo>
                <a:lnTo>
                  <a:pt x="1131925" y="1758499"/>
                </a:lnTo>
                <a:lnTo>
                  <a:pt x="817054" y="1035050"/>
                </a:lnTo>
                <a:lnTo>
                  <a:pt x="802100" y="962723"/>
                </a:lnTo>
                <a:lnTo>
                  <a:pt x="805838" y="925393"/>
                </a:lnTo>
                <a:lnTo>
                  <a:pt x="1123759" y="183261"/>
                </a:lnTo>
                <a:lnTo>
                  <a:pt x="1164034" y="129047"/>
                </a:lnTo>
                <a:lnTo>
                  <a:pt x="1219263" y="109219"/>
                </a:lnTo>
                <a:lnTo>
                  <a:pt x="1990783" y="109219"/>
                </a:lnTo>
                <a:lnTo>
                  <a:pt x="1979612" y="83565"/>
                </a:lnTo>
                <a:lnTo>
                  <a:pt x="1960252" y="48702"/>
                </a:lnTo>
                <a:lnTo>
                  <a:pt x="1934845" y="22399"/>
                </a:lnTo>
                <a:lnTo>
                  <a:pt x="1905246" y="5788"/>
                </a:lnTo>
                <a:lnTo>
                  <a:pt x="1873313" y="0"/>
                </a:lnTo>
                <a:close/>
              </a:path>
              <a:path w="4638675" h="5155565">
                <a:moveTo>
                  <a:pt x="673671" y="3125216"/>
                </a:moveTo>
                <a:lnTo>
                  <a:pt x="272351" y="3125216"/>
                </a:lnTo>
                <a:lnTo>
                  <a:pt x="253499" y="3128559"/>
                </a:lnTo>
                <a:lnTo>
                  <a:pt x="221559" y="3153344"/>
                </a:lnTo>
                <a:lnTo>
                  <a:pt x="9715" y="3635248"/>
                </a:lnTo>
                <a:lnTo>
                  <a:pt x="0" y="3682491"/>
                </a:lnTo>
                <a:lnTo>
                  <a:pt x="2428" y="3706864"/>
                </a:lnTo>
                <a:lnTo>
                  <a:pt x="209994" y="4191380"/>
                </a:lnTo>
                <a:lnTo>
                  <a:pt x="236315" y="4226814"/>
                </a:lnTo>
                <a:lnTo>
                  <a:pt x="272351" y="4239768"/>
                </a:lnTo>
                <a:lnTo>
                  <a:pt x="673671" y="4239768"/>
                </a:lnTo>
                <a:lnTo>
                  <a:pt x="724034" y="4211585"/>
                </a:lnTo>
                <a:lnTo>
                  <a:pt x="936307" y="3729735"/>
                </a:lnTo>
                <a:lnTo>
                  <a:pt x="946118" y="3682491"/>
                </a:lnTo>
                <a:lnTo>
                  <a:pt x="943665" y="3658119"/>
                </a:lnTo>
                <a:lnTo>
                  <a:pt x="735266" y="3173476"/>
                </a:lnTo>
                <a:lnTo>
                  <a:pt x="709326" y="3138154"/>
                </a:lnTo>
                <a:lnTo>
                  <a:pt x="673671" y="3125216"/>
                </a:lnTo>
                <a:close/>
              </a:path>
              <a:path w="4638675" h="5155565">
                <a:moveTo>
                  <a:pt x="3518090" y="569976"/>
                </a:moveTo>
                <a:lnTo>
                  <a:pt x="2192591" y="569976"/>
                </a:lnTo>
                <a:lnTo>
                  <a:pt x="2324036" y="871854"/>
                </a:lnTo>
                <a:lnTo>
                  <a:pt x="2336680" y="911353"/>
                </a:lnTo>
                <a:lnTo>
                  <a:pt x="2340895" y="953436"/>
                </a:lnTo>
                <a:lnTo>
                  <a:pt x="2336680" y="995495"/>
                </a:lnTo>
                <a:lnTo>
                  <a:pt x="2324036" y="1034923"/>
                </a:lnTo>
                <a:lnTo>
                  <a:pt x="1976691" y="1832610"/>
                </a:lnTo>
                <a:lnTo>
                  <a:pt x="1957276" y="1867473"/>
                </a:lnTo>
                <a:lnTo>
                  <a:pt x="1902253" y="1910387"/>
                </a:lnTo>
                <a:lnTo>
                  <a:pt x="1870265" y="1916176"/>
                </a:lnTo>
                <a:lnTo>
                  <a:pt x="4270937" y="1916176"/>
                </a:lnTo>
                <a:lnTo>
                  <a:pt x="3771328" y="768985"/>
                </a:lnTo>
                <a:lnTo>
                  <a:pt x="3747017" y="719172"/>
                </a:lnTo>
                <a:lnTo>
                  <a:pt x="3717402" y="675658"/>
                </a:lnTo>
                <a:lnTo>
                  <a:pt x="3683294" y="638939"/>
                </a:lnTo>
                <a:lnTo>
                  <a:pt x="3645500" y="609514"/>
                </a:lnTo>
                <a:lnTo>
                  <a:pt x="3604828" y="587880"/>
                </a:lnTo>
                <a:lnTo>
                  <a:pt x="3562089" y="574535"/>
                </a:lnTo>
                <a:lnTo>
                  <a:pt x="3518090" y="569976"/>
                </a:lnTo>
                <a:close/>
              </a:path>
              <a:path w="4638675" h="5155565">
                <a:moveTo>
                  <a:pt x="2097722" y="569976"/>
                </a:moveTo>
                <a:lnTo>
                  <a:pt x="1867344" y="569976"/>
                </a:lnTo>
                <a:lnTo>
                  <a:pt x="1822215" y="574535"/>
                </a:lnTo>
                <a:lnTo>
                  <a:pt x="1778968" y="587880"/>
                </a:lnTo>
                <a:lnTo>
                  <a:pt x="1738162" y="609514"/>
                </a:lnTo>
                <a:lnTo>
                  <a:pt x="1700357" y="638939"/>
                </a:lnTo>
                <a:lnTo>
                  <a:pt x="1666114" y="675658"/>
                </a:lnTo>
                <a:lnTo>
                  <a:pt x="1635991" y="719172"/>
                </a:lnTo>
                <a:lnTo>
                  <a:pt x="1610550" y="768985"/>
                </a:lnTo>
                <a:lnTo>
                  <a:pt x="1179639" y="1762632"/>
                </a:lnTo>
                <a:lnTo>
                  <a:pt x="1167574" y="1790700"/>
                </a:lnTo>
                <a:lnTo>
                  <a:pt x="1187386" y="1801749"/>
                </a:lnTo>
                <a:lnTo>
                  <a:pt x="1194429" y="1804009"/>
                </a:lnTo>
                <a:lnTo>
                  <a:pt x="1201626" y="1805638"/>
                </a:lnTo>
                <a:lnTo>
                  <a:pt x="1208942" y="1806624"/>
                </a:lnTo>
                <a:lnTo>
                  <a:pt x="1216342" y="1806955"/>
                </a:lnTo>
                <a:lnTo>
                  <a:pt x="1831022" y="1806955"/>
                </a:lnTo>
                <a:lnTo>
                  <a:pt x="1885568" y="1787064"/>
                </a:lnTo>
                <a:lnTo>
                  <a:pt x="1925256" y="1732788"/>
                </a:lnTo>
                <a:lnTo>
                  <a:pt x="2233231" y="1025651"/>
                </a:lnTo>
                <a:lnTo>
                  <a:pt x="2248185" y="953388"/>
                </a:lnTo>
                <a:lnTo>
                  <a:pt x="2244447" y="916102"/>
                </a:lnTo>
                <a:lnTo>
                  <a:pt x="2233231" y="881126"/>
                </a:lnTo>
                <a:lnTo>
                  <a:pt x="2097722" y="569976"/>
                </a:lnTo>
                <a:close/>
              </a:path>
              <a:path w="4638675" h="5155565">
                <a:moveTo>
                  <a:pt x="1990783" y="109219"/>
                </a:moveTo>
                <a:lnTo>
                  <a:pt x="1833943" y="109219"/>
                </a:lnTo>
                <a:lnTo>
                  <a:pt x="1862294" y="114341"/>
                </a:lnTo>
                <a:lnTo>
                  <a:pt x="1888537" y="129047"/>
                </a:lnTo>
                <a:lnTo>
                  <a:pt x="1911042" y="152350"/>
                </a:lnTo>
                <a:lnTo>
                  <a:pt x="1928177" y="183261"/>
                </a:lnTo>
                <a:lnTo>
                  <a:pt x="2092134" y="559688"/>
                </a:lnTo>
                <a:lnTo>
                  <a:pt x="2187003" y="559688"/>
                </a:lnTo>
                <a:lnTo>
                  <a:pt x="1990783" y="109219"/>
                </a:lnTo>
                <a:close/>
              </a:path>
            </a:pathLst>
          </a:custGeom>
          <a:solidFill>
            <a:srgbClr val="7E7E7E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9373" y="30606"/>
            <a:ext cx="80854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40">
                <a:solidFill>
                  <a:srgbClr val="1F487C"/>
                </a:solidFill>
              </a:rPr>
              <a:t>SMART</a:t>
            </a:r>
            <a:r>
              <a:rPr dirty="0" sz="4000" spc="-20">
                <a:solidFill>
                  <a:srgbClr val="1F487C"/>
                </a:solidFill>
              </a:rPr>
              <a:t> </a:t>
            </a:r>
            <a:r>
              <a:rPr dirty="0" sz="4000" spc="100">
                <a:solidFill>
                  <a:srgbClr val="1F487C"/>
                </a:solidFill>
              </a:rPr>
              <a:t>INDIA</a:t>
            </a:r>
            <a:r>
              <a:rPr dirty="0" sz="4000" spc="-5">
                <a:solidFill>
                  <a:srgbClr val="1F487C"/>
                </a:solidFill>
              </a:rPr>
              <a:t> </a:t>
            </a:r>
            <a:r>
              <a:rPr dirty="0" sz="4000" spc="20">
                <a:solidFill>
                  <a:srgbClr val="1F487C"/>
                </a:solidFill>
              </a:rPr>
              <a:t>HACKATHON</a:t>
            </a:r>
            <a:r>
              <a:rPr dirty="0" sz="4000" spc="-20">
                <a:solidFill>
                  <a:srgbClr val="1F487C"/>
                </a:solidFill>
              </a:rPr>
              <a:t> </a:t>
            </a:r>
            <a:r>
              <a:rPr dirty="0" sz="4000" spc="-130">
                <a:solidFill>
                  <a:srgbClr val="1F487C"/>
                </a:solidFill>
              </a:rPr>
              <a:t>2024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11607" y="1487779"/>
            <a:ext cx="4533900" cy="3226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 sz="1800" b="1">
                <a:latin typeface="Arial"/>
                <a:cs typeface="Arial"/>
              </a:rPr>
              <a:t>Problem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Statement </a:t>
            </a:r>
            <a:r>
              <a:rPr dirty="0" sz="1800" b="1">
                <a:latin typeface="Arial"/>
                <a:cs typeface="Arial"/>
              </a:rPr>
              <a:t>ID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–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2000" i="1">
                <a:latin typeface="Calibri"/>
                <a:cs typeface="Calibri"/>
              </a:rPr>
              <a:t>1757</a:t>
            </a:r>
            <a:endParaRPr sz="2000">
              <a:latin typeface="Calibri"/>
              <a:cs typeface="Calibri"/>
            </a:endParaRPr>
          </a:p>
          <a:p>
            <a:pPr marL="299085" marR="5080" indent="-28702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299085" algn="l"/>
                <a:tab pos="299720" algn="l"/>
                <a:tab pos="1353820" algn="l"/>
                <a:tab pos="2597150" algn="l"/>
                <a:tab pos="3203575" algn="l"/>
                <a:tab pos="3418840" algn="l"/>
                <a:tab pos="4083685" algn="l"/>
              </a:tabLst>
            </a:pPr>
            <a:r>
              <a:rPr dirty="0" sz="1800" b="1">
                <a:latin typeface="Arial"/>
                <a:cs typeface="Arial"/>
              </a:rPr>
              <a:t>Prob</a:t>
            </a:r>
            <a:r>
              <a:rPr dirty="0" sz="1800" spc="5" b="1">
                <a:latin typeface="Arial"/>
                <a:cs typeface="Arial"/>
              </a:rPr>
              <a:t>l</a:t>
            </a:r>
            <a:r>
              <a:rPr dirty="0" sz="1800" spc="-5" b="1">
                <a:latin typeface="Arial"/>
                <a:cs typeface="Arial"/>
              </a:rPr>
              <a:t>em</a:t>
            </a: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spc="-5" b="1">
                <a:latin typeface="Arial"/>
                <a:cs typeface="Arial"/>
              </a:rPr>
              <a:t>Stat</a:t>
            </a:r>
            <a:r>
              <a:rPr dirty="0" sz="1800" spc="-15" b="1">
                <a:latin typeface="Arial"/>
                <a:cs typeface="Arial"/>
              </a:rPr>
              <a:t>e</a:t>
            </a:r>
            <a:r>
              <a:rPr dirty="0" sz="1800" spc="-5" b="1">
                <a:latin typeface="Arial"/>
                <a:cs typeface="Arial"/>
              </a:rPr>
              <a:t>m</a:t>
            </a:r>
            <a:r>
              <a:rPr dirty="0" sz="1800" spc="-1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nt</a:t>
            </a: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spc="-35" b="1">
                <a:latin typeface="Arial"/>
                <a:cs typeface="Arial"/>
              </a:rPr>
              <a:t>T</a:t>
            </a:r>
            <a:r>
              <a:rPr dirty="0" sz="1800" b="1">
                <a:latin typeface="Arial"/>
                <a:cs typeface="Arial"/>
              </a:rPr>
              <a:t>it</a:t>
            </a:r>
            <a:r>
              <a:rPr dirty="0" sz="1800" spc="5" b="1">
                <a:latin typeface="Arial"/>
                <a:cs typeface="Arial"/>
              </a:rPr>
              <a:t>l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	-	</a:t>
            </a:r>
            <a:r>
              <a:rPr dirty="0" sz="2000" spc="-15" i="1">
                <a:latin typeface="Calibri"/>
                <a:cs typeface="Calibri"/>
              </a:rPr>
              <a:t>I</a:t>
            </a:r>
            <a:r>
              <a:rPr dirty="0" sz="2000" spc="-5" i="1">
                <a:latin typeface="Calibri"/>
                <a:cs typeface="Calibri"/>
              </a:rPr>
              <a:t>n</a:t>
            </a:r>
            <a:r>
              <a:rPr dirty="0" sz="2000" spc="5" i="1">
                <a:latin typeface="Calibri"/>
                <a:cs typeface="Calibri"/>
              </a:rPr>
              <a:t>d</a:t>
            </a:r>
            <a:r>
              <a:rPr dirty="0" sz="2000" i="1">
                <a:latin typeface="Calibri"/>
                <a:cs typeface="Calibri"/>
              </a:rPr>
              <a:t>ia</a:t>
            </a: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spc="-40" i="1">
                <a:latin typeface="Calibri"/>
                <a:cs typeface="Calibri"/>
              </a:rPr>
              <a:t>P</a:t>
            </a:r>
            <a:r>
              <a:rPr dirty="0" sz="2000" spc="-10" i="1">
                <a:latin typeface="Calibri"/>
                <a:cs typeface="Calibri"/>
              </a:rPr>
              <a:t>o</a:t>
            </a:r>
            <a:r>
              <a:rPr dirty="0" sz="2000" spc="-25" i="1">
                <a:latin typeface="Calibri"/>
                <a:cs typeface="Calibri"/>
              </a:rPr>
              <a:t>s</a:t>
            </a:r>
            <a:r>
              <a:rPr dirty="0" sz="2000" i="1">
                <a:latin typeface="Calibri"/>
                <a:cs typeface="Calibri"/>
              </a:rPr>
              <a:t>t  </a:t>
            </a:r>
            <a:r>
              <a:rPr dirty="0" sz="2000" i="1">
                <a:latin typeface="Calibri"/>
                <a:cs typeface="Calibri"/>
              </a:rPr>
              <a:t>Indian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spc="-5" i="1">
                <a:latin typeface="Calibri"/>
                <a:cs typeface="Calibri"/>
              </a:rPr>
              <a:t>Diaspora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spc="-15" i="1">
                <a:latin typeface="Calibri"/>
                <a:cs typeface="Calibri"/>
              </a:rPr>
              <a:t>to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access </a:t>
            </a:r>
            <a:r>
              <a:rPr dirty="0" sz="2000" i="1">
                <a:latin typeface="Calibri"/>
                <a:cs typeface="Calibri"/>
              </a:rPr>
              <a:t>things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Indian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 sz="1800" spc="-5" b="1">
                <a:latin typeface="Arial"/>
                <a:cs typeface="Arial"/>
              </a:rPr>
              <a:t>Theme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-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2000" spc="-10" i="1">
                <a:solidFill>
                  <a:srgbClr val="202429"/>
                </a:solidFill>
                <a:latin typeface="Calibri"/>
                <a:cs typeface="Calibri"/>
              </a:rPr>
              <a:t>Transportation</a:t>
            </a:r>
            <a:r>
              <a:rPr dirty="0" sz="2000" spc="-55" i="1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02429"/>
                </a:solidFill>
                <a:latin typeface="Calibri"/>
                <a:cs typeface="Calibri"/>
              </a:rPr>
              <a:t>&amp;</a:t>
            </a:r>
            <a:r>
              <a:rPr dirty="0" sz="2000" spc="-20" i="1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2000" spc="-5" i="1">
                <a:solidFill>
                  <a:srgbClr val="202429"/>
                </a:solidFill>
                <a:latin typeface="Calibri"/>
                <a:cs typeface="Calibri"/>
              </a:rPr>
              <a:t>Logistics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 sz="1800" spc="-5" b="1">
                <a:latin typeface="Arial"/>
                <a:cs typeface="Arial"/>
              </a:rPr>
              <a:t>PS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Category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-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2000" spc="-5" i="1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 sz="1800" spc="-40" b="1">
                <a:latin typeface="Arial"/>
                <a:cs typeface="Arial"/>
              </a:rPr>
              <a:t>Team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ID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-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2000" i="1">
                <a:latin typeface="Calibri"/>
                <a:cs typeface="Calibri"/>
              </a:rPr>
              <a:t>4326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 sz="1800" spc="-40" b="1">
                <a:latin typeface="Arial"/>
                <a:cs typeface="Arial"/>
              </a:rPr>
              <a:t>Team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Name </a:t>
            </a:r>
            <a:r>
              <a:rPr dirty="0" sz="1800" b="1">
                <a:latin typeface="Arial"/>
                <a:cs typeface="Arial"/>
              </a:rPr>
              <a:t>-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2000" spc="-5" i="1">
                <a:latin typeface="Calibri"/>
                <a:cs typeface="Calibri"/>
              </a:rPr>
              <a:t>The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spc="-5" i="1">
                <a:latin typeface="Calibri"/>
                <a:cs typeface="Calibri"/>
              </a:rPr>
              <a:t>Deciders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2558" y="2096770"/>
            <a:ext cx="14338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1150" algn="l"/>
                <a:tab pos="1129665" algn="l"/>
              </a:tabLst>
            </a:pP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Br</a:t>
            </a:r>
            <a:r>
              <a:rPr dirty="0" sz="2000" spc="-10" i="1">
                <a:latin typeface="Calibri"/>
                <a:cs typeface="Calibri"/>
              </a:rPr>
              <a:t>i</a:t>
            </a:r>
            <a:r>
              <a:rPr dirty="0" sz="2000" spc="-5" i="1">
                <a:latin typeface="Calibri"/>
                <a:cs typeface="Calibri"/>
              </a:rPr>
              <a:t>d</a:t>
            </a:r>
            <a:r>
              <a:rPr dirty="0" sz="2000" spc="-10" i="1">
                <a:latin typeface="Calibri"/>
                <a:cs typeface="Calibri"/>
              </a:rPr>
              <a:t>g</a:t>
            </a:r>
            <a:r>
              <a:rPr dirty="0" sz="2000" i="1">
                <a:latin typeface="Calibri"/>
                <a:cs typeface="Calibri"/>
              </a:rPr>
              <a:t>e</a:t>
            </a: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spc="-40" i="1">
                <a:latin typeface="Calibri"/>
                <a:cs typeface="Calibri"/>
              </a:rPr>
              <a:t>f</a:t>
            </a:r>
            <a:r>
              <a:rPr dirty="0" sz="2000" spc="-5" i="1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1875" y="38890"/>
            <a:ext cx="1669901" cy="7855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4952" y="1715897"/>
            <a:ext cx="3203448" cy="3426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07623"/>
            <a:ext cx="12192000" cy="350520"/>
            <a:chOff x="0" y="6507623"/>
            <a:chExt cx="12192000" cy="35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28815"/>
              <a:ext cx="12189714" cy="3268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507623"/>
              <a:ext cx="12192000" cy="350520"/>
            </a:xfrm>
            <a:custGeom>
              <a:avLst/>
              <a:gdLst/>
              <a:ahLst/>
              <a:cxnLst/>
              <a:rect l="l" t="t" r="r" b="b"/>
              <a:pathLst>
                <a:path w="12192000" h="350520">
                  <a:moveTo>
                    <a:pt x="12191999" y="350374"/>
                  </a:moveTo>
                  <a:lnTo>
                    <a:pt x="12191999" y="0"/>
                  </a:lnTo>
                  <a:lnTo>
                    <a:pt x="0" y="0"/>
                  </a:lnTo>
                  <a:lnTo>
                    <a:pt x="0" y="350374"/>
                  </a:lnTo>
                  <a:lnTo>
                    <a:pt x="12191999" y="35037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84882" y="20637"/>
            <a:ext cx="7680959" cy="1029335"/>
          </a:xfrm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algn="ctr" marR="15240">
              <a:lnSpc>
                <a:spcPct val="100000"/>
              </a:lnSpc>
              <a:spcBef>
                <a:spcPts val="520"/>
              </a:spcBef>
            </a:pPr>
            <a:r>
              <a:rPr dirty="0" spc="-5"/>
              <a:t>IDEA</a:t>
            </a:r>
            <a:r>
              <a:rPr dirty="0" spc="-265"/>
              <a:t> </a:t>
            </a:r>
            <a:r>
              <a:rPr dirty="0"/>
              <a:t>TITLE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u="heavy" sz="2400" spc="-1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Proposed</a:t>
            </a:r>
            <a:r>
              <a:rPr dirty="0" u="heavy" sz="2400" spc="1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dirty="0" u="heavy" sz="240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Solution</a:t>
            </a:r>
            <a:r>
              <a:rPr dirty="0" u="heavy" sz="2400" spc="15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dirty="0" u="heavy" sz="2400" spc="-5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(Describe</a:t>
            </a:r>
            <a:r>
              <a:rPr dirty="0" u="heavy" sz="2400" spc="-1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dirty="0" u="heavy" sz="240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your</a:t>
            </a:r>
            <a:r>
              <a:rPr dirty="0" u="heavy" sz="2400" spc="-3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 </a:t>
            </a:r>
            <a:r>
              <a:rPr dirty="0" u="heavy" sz="2400" spc="-5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Idea/Solution/Prototype)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1729719" y="6592925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122" y="6563969"/>
            <a:ext cx="204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@SIH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submission-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752" y="30705"/>
            <a:ext cx="1353079" cy="68773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1293" y="1416900"/>
            <a:ext cx="6581775" cy="5014595"/>
          </a:xfrm>
          <a:custGeom>
            <a:avLst/>
            <a:gdLst/>
            <a:ahLst/>
            <a:cxnLst/>
            <a:rect l="l" t="t" r="r" b="b"/>
            <a:pathLst>
              <a:path w="6581775" h="5014595">
                <a:moveTo>
                  <a:pt x="0" y="5014087"/>
                </a:moveTo>
                <a:lnTo>
                  <a:pt x="6581648" y="5014087"/>
                </a:lnTo>
                <a:lnTo>
                  <a:pt x="6581648" y="0"/>
                </a:lnTo>
                <a:lnTo>
                  <a:pt x="0" y="0"/>
                </a:lnTo>
                <a:lnTo>
                  <a:pt x="0" y="5014087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0050" y="1511299"/>
            <a:ext cx="6394450" cy="4796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Tahoma"/>
                <a:cs typeface="Tahoma"/>
              </a:rPr>
              <a:t>A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web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application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that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provides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access</a:t>
            </a:r>
            <a:r>
              <a:rPr dirty="0" sz="1600" spc="-19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authentic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products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from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MSMEs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gl</a:t>
            </a:r>
            <a:r>
              <a:rPr dirty="0" sz="1600" spc="-120" b="1">
                <a:latin typeface="Tahoma"/>
                <a:cs typeface="Tahoma"/>
              </a:rPr>
              <a:t>o</a:t>
            </a:r>
            <a:r>
              <a:rPr dirty="0" sz="1600" spc="-75" b="1">
                <a:latin typeface="Tahoma"/>
                <a:cs typeface="Tahoma"/>
              </a:rPr>
              <a:t>ba</a:t>
            </a:r>
            <a:r>
              <a:rPr dirty="0" sz="1600" spc="-35" b="1">
                <a:latin typeface="Tahoma"/>
                <a:cs typeface="Tahoma"/>
              </a:rPr>
              <a:t>l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20" b="1">
                <a:latin typeface="Tahoma"/>
                <a:cs typeface="Tahoma"/>
              </a:rPr>
              <a:t>Indian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di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40" b="1">
                <a:latin typeface="Tahoma"/>
                <a:cs typeface="Tahoma"/>
              </a:rPr>
              <a:t>sp</a:t>
            </a:r>
            <a:r>
              <a:rPr dirty="0" sz="1600" spc="-110" b="1">
                <a:latin typeface="Tahoma"/>
                <a:cs typeface="Tahoma"/>
              </a:rPr>
              <a:t>o</a:t>
            </a:r>
            <a:r>
              <a:rPr dirty="0" sz="1600" spc="-130" b="1">
                <a:latin typeface="Tahoma"/>
                <a:cs typeface="Tahoma"/>
              </a:rPr>
              <a:t>r</a:t>
            </a:r>
            <a:r>
              <a:rPr dirty="0" sz="1600" spc="-80" b="1">
                <a:latin typeface="Tahoma"/>
                <a:cs typeface="Tahoma"/>
              </a:rPr>
              <a:t>a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170" b="1">
                <a:latin typeface="Tahoma"/>
                <a:cs typeface="Tahoma"/>
              </a:rPr>
              <a:t>&amp;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-95" b="1">
                <a:latin typeface="Tahoma"/>
                <a:cs typeface="Tahoma"/>
              </a:rPr>
              <a:t>in</a:t>
            </a:r>
            <a:r>
              <a:rPr dirty="0" sz="1600" spc="-95" b="1">
                <a:latin typeface="Tahoma"/>
                <a:cs typeface="Tahoma"/>
              </a:rPr>
              <a:t>t</a:t>
            </a:r>
            <a:r>
              <a:rPr dirty="0" sz="1600" spc="-90" b="1">
                <a:latin typeface="Tahoma"/>
                <a:cs typeface="Tahoma"/>
              </a:rPr>
              <a:t>ern</a:t>
            </a:r>
            <a:r>
              <a:rPr dirty="0" sz="1600" spc="-114" b="1">
                <a:latin typeface="Tahoma"/>
                <a:cs typeface="Tahoma"/>
              </a:rPr>
              <a:t>a</a:t>
            </a:r>
            <a:r>
              <a:rPr dirty="0" sz="1600" spc="-85" b="1">
                <a:latin typeface="Tahoma"/>
                <a:cs typeface="Tahoma"/>
              </a:rPr>
              <a:t>tion</a:t>
            </a:r>
            <a:r>
              <a:rPr dirty="0" sz="1600" spc="-105" b="1">
                <a:latin typeface="Tahoma"/>
                <a:cs typeface="Tahoma"/>
              </a:rPr>
              <a:t>a</a:t>
            </a:r>
            <a:r>
              <a:rPr dirty="0" sz="1600" spc="-15" b="1">
                <a:latin typeface="Tahoma"/>
                <a:cs typeface="Tahoma"/>
              </a:rPr>
              <a:t>l</a:t>
            </a:r>
            <a:r>
              <a:rPr dirty="0" sz="1600" spc="-105" b="1">
                <a:latin typeface="Tahoma"/>
                <a:cs typeface="Tahoma"/>
              </a:rPr>
              <a:t> </a:t>
            </a:r>
            <a:r>
              <a:rPr dirty="0" sz="1600" spc="-110" b="1">
                <a:latin typeface="Tahoma"/>
                <a:cs typeface="Tahoma"/>
              </a:rPr>
              <a:t>bu</a:t>
            </a:r>
            <a:r>
              <a:rPr dirty="0" sz="1600" spc="-110" b="1">
                <a:latin typeface="Tahoma"/>
                <a:cs typeface="Tahoma"/>
              </a:rPr>
              <a:t>y</a:t>
            </a:r>
            <a:r>
              <a:rPr dirty="0" sz="1600" spc="-105" b="1">
                <a:latin typeface="Tahoma"/>
                <a:cs typeface="Tahoma"/>
              </a:rPr>
              <a:t>e</a:t>
            </a:r>
            <a:r>
              <a:rPr dirty="0" sz="1600" spc="-90" b="1">
                <a:latin typeface="Tahoma"/>
                <a:cs typeface="Tahoma"/>
              </a:rPr>
              <a:t>r</a:t>
            </a:r>
            <a:r>
              <a:rPr dirty="0" sz="1600" spc="-5" b="1">
                <a:latin typeface="Tahoma"/>
                <a:cs typeface="Tahoma"/>
              </a:rPr>
              <a:t>s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  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20">
                <a:latin typeface="Tahoma"/>
                <a:cs typeface="Tahoma"/>
              </a:rPr>
              <a:t>ea</a:t>
            </a:r>
            <a:r>
              <a:rPr dirty="0" sz="1600" spc="25">
                <a:latin typeface="Tahoma"/>
                <a:cs typeface="Tahoma"/>
              </a:rPr>
              <a:t>s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5">
                <a:latin typeface="Tahoma"/>
                <a:cs typeface="Tahoma"/>
              </a:rPr>
              <a:t>na</a:t>
            </a:r>
            <a:r>
              <a:rPr dirty="0" sz="1600">
                <a:latin typeface="Tahoma"/>
                <a:cs typeface="Tahoma"/>
              </a:rPr>
              <a:t>b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pric</a:t>
            </a:r>
            <a:r>
              <a:rPr dirty="0" sz="1600" spc="-25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-5">
                <a:latin typeface="Tahoma"/>
                <a:cs typeface="Tahoma"/>
              </a:rPr>
              <a:t>ea</a:t>
            </a:r>
            <a:r>
              <a:rPr dirty="0" sz="1600" spc="-20">
                <a:latin typeface="Tahoma"/>
                <a:cs typeface="Tahoma"/>
              </a:rPr>
              <a:t>n</a:t>
            </a:r>
            <a:r>
              <a:rPr dirty="0" sz="1600">
                <a:latin typeface="Tahoma"/>
                <a:cs typeface="Tahoma"/>
              </a:rPr>
              <a:t>whil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5">
                <a:latin typeface="Tahoma"/>
                <a:cs typeface="Tahoma"/>
              </a:rPr>
              <a:t>tin</a:t>
            </a:r>
            <a:r>
              <a:rPr dirty="0" sz="1600" spc="-45">
                <a:latin typeface="Tahoma"/>
                <a:cs typeface="Tahoma"/>
              </a:rPr>
              <a:t>g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ese</a:t>
            </a:r>
            <a:r>
              <a:rPr dirty="0" sz="1600" spc="15">
                <a:latin typeface="Tahoma"/>
                <a:cs typeface="Tahoma"/>
              </a:rPr>
              <a:t>r</a:t>
            </a:r>
            <a:r>
              <a:rPr dirty="0" sz="1600" spc="-50">
                <a:latin typeface="Tahoma"/>
                <a:cs typeface="Tahoma"/>
              </a:rPr>
              <a:t>vin</a:t>
            </a:r>
            <a:r>
              <a:rPr dirty="0" sz="1600" spc="-60">
                <a:latin typeface="Tahoma"/>
                <a:cs typeface="Tahoma"/>
              </a:rPr>
              <a:t>g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90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10">
                <a:latin typeface="Tahoma"/>
                <a:cs typeface="Tahoma"/>
              </a:rPr>
              <a:t>d</a:t>
            </a:r>
            <a:r>
              <a:rPr dirty="0" sz="1600">
                <a:latin typeface="Tahoma"/>
                <a:cs typeface="Tahoma"/>
              </a:rPr>
              <a:t>it</a:t>
            </a:r>
            <a:r>
              <a:rPr dirty="0" sz="1600" spc="5">
                <a:latin typeface="Tahoma"/>
                <a:cs typeface="Tahoma"/>
              </a:rPr>
              <a:t>i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5">
                <a:latin typeface="Tahoma"/>
                <a:cs typeface="Tahoma"/>
              </a:rPr>
              <a:t>nal  </a:t>
            </a:r>
            <a:r>
              <a:rPr dirty="0" sz="1600">
                <a:latin typeface="Tahoma"/>
                <a:cs typeface="Tahoma"/>
              </a:rPr>
              <a:t>craftmanship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local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artisans.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The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platform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will:</a:t>
            </a:r>
            <a:endParaRPr sz="1600">
              <a:latin typeface="Tahoma"/>
              <a:cs typeface="Tahoma"/>
            </a:endParaRPr>
          </a:p>
          <a:p>
            <a:pPr marL="299085" marR="30480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1600" spc="-20">
                <a:latin typeface="Tahoma"/>
                <a:cs typeface="Tahoma"/>
              </a:rPr>
              <a:t>Analyze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data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around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310" b="1">
                <a:latin typeface="Tahoma"/>
                <a:cs typeface="Tahoma"/>
              </a:rPr>
              <a:t>73%</a:t>
            </a:r>
            <a:r>
              <a:rPr dirty="0" sz="1600" spc="-300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diaspora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people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-170" b="1">
                <a:latin typeface="Tahoma"/>
                <a:cs typeface="Tahoma"/>
              </a:rPr>
              <a:t>&amp;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foreigners</a:t>
            </a:r>
            <a:r>
              <a:rPr dirty="0" sz="1600" spc="-165" b="1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buy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products </a:t>
            </a:r>
            <a:r>
              <a:rPr dirty="0" sz="1600" spc="-10">
                <a:latin typeface="Tahoma"/>
                <a:cs typeface="Tahoma"/>
              </a:rPr>
              <a:t>online, </a:t>
            </a:r>
            <a:r>
              <a:rPr dirty="0" sz="1600" spc="-15">
                <a:latin typeface="Tahoma"/>
                <a:cs typeface="Tahoma"/>
              </a:rPr>
              <a:t>with the </a:t>
            </a:r>
            <a:r>
              <a:rPr dirty="0" sz="1600" spc="5">
                <a:latin typeface="Tahoma"/>
                <a:cs typeface="Tahoma"/>
              </a:rPr>
              <a:t>help </a:t>
            </a:r>
            <a:r>
              <a:rPr dirty="0" sz="1600" spc="-15">
                <a:latin typeface="Tahoma"/>
                <a:cs typeface="Tahoma"/>
              </a:rPr>
              <a:t>of </a:t>
            </a:r>
            <a:r>
              <a:rPr dirty="0" sz="1600" spc="-210" b="1">
                <a:latin typeface="Tahoma"/>
                <a:cs typeface="Tahoma"/>
              </a:rPr>
              <a:t>AI </a:t>
            </a:r>
            <a:r>
              <a:rPr dirty="0" sz="1600">
                <a:latin typeface="Tahoma"/>
                <a:cs typeface="Tahoma"/>
              </a:rPr>
              <a:t>and </a:t>
            </a:r>
            <a:r>
              <a:rPr dirty="0" sz="1600" spc="-114" b="1">
                <a:latin typeface="Tahoma"/>
                <a:cs typeface="Tahoma"/>
              </a:rPr>
              <a:t>ML </a:t>
            </a:r>
            <a:r>
              <a:rPr dirty="0" sz="1600" spc="-10">
                <a:latin typeface="Tahoma"/>
                <a:cs typeface="Tahoma"/>
              </a:rPr>
              <a:t>algorithms </a:t>
            </a:r>
            <a:r>
              <a:rPr dirty="0" sz="1600" spc="-15">
                <a:latin typeface="Tahoma"/>
                <a:cs typeface="Tahoma"/>
              </a:rPr>
              <a:t>to </a:t>
            </a:r>
            <a:r>
              <a:rPr dirty="0" sz="1600" spc="-20">
                <a:latin typeface="Tahoma"/>
                <a:cs typeface="Tahoma"/>
              </a:rPr>
              <a:t>provide 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results </a:t>
            </a:r>
            <a:r>
              <a:rPr dirty="0" sz="1600" spc="-5">
                <a:latin typeface="Tahoma"/>
                <a:cs typeface="Tahoma"/>
              </a:rPr>
              <a:t>and </a:t>
            </a:r>
            <a:r>
              <a:rPr dirty="0" sz="1600" spc="-15">
                <a:latin typeface="Tahoma"/>
                <a:cs typeface="Tahoma"/>
              </a:rPr>
              <a:t>offers </a:t>
            </a:r>
            <a:r>
              <a:rPr dirty="0" sz="1600" spc="15">
                <a:latin typeface="Tahoma"/>
                <a:cs typeface="Tahoma"/>
              </a:rPr>
              <a:t>based </a:t>
            </a:r>
            <a:r>
              <a:rPr dirty="0" sz="1600" spc="-5">
                <a:latin typeface="Tahoma"/>
                <a:cs typeface="Tahoma"/>
              </a:rPr>
              <a:t>on </a:t>
            </a:r>
            <a:r>
              <a:rPr dirty="0" sz="1600" spc="-20">
                <a:latin typeface="Tahoma"/>
                <a:cs typeface="Tahoma"/>
              </a:rPr>
              <a:t>their </a:t>
            </a:r>
            <a:r>
              <a:rPr dirty="0" sz="1600" spc="5">
                <a:latin typeface="Tahoma"/>
                <a:cs typeface="Tahoma"/>
              </a:rPr>
              <a:t>needs </a:t>
            </a:r>
            <a:r>
              <a:rPr dirty="0" sz="1600" spc="-5">
                <a:latin typeface="Tahoma"/>
                <a:cs typeface="Tahoma"/>
              </a:rPr>
              <a:t>and </a:t>
            </a:r>
            <a:r>
              <a:rPr dirty="0" sz="1600" spc="-10">
                <a:latin typeface="Tahoma"/>
                <a:cs typeface="Tahoma"/>
              </a:rPr>
              <a:t>preferences, enhancing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user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satisfaction.</a:t>
            </a:r>
            <a:endParaRPr sz="1600">
              <a:latin typeface="Tahoma"/>
              <a:cs typeface="Tahoma"/>
            </a:endParaRPr>
          </a:p>
          <a:p>
            <a:pPr marL="299085" marR="13970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1600" spc="-20">
                <a:latin typeface="Tahoma"/>
                <a:cs typeface="Tahoma"/>
              </a:rPr>
              <a:t>Provide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exclusive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collection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during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festivals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55" b="1">
                <a:latin typeface="Tahoma"/>
                <a:cs typeface="Tahoma"/>
              </a:rPr>
              <a:t>seasonal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events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45">
                <a:latin typeface="Tahoma"/>
                <a:cs typeface="Tahoma"/>
              </a:rPr>
              <a:t>(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as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demand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rises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by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310" b="1">
                <a:latin typeface="Tahoma"/>
                <a:cs typeface="Tahoma"/>
              </a:rPr>
              <a:t>40%</a:t>
            </a:r>
            <a:r>
              <a:rPr dirty="0" sz="1600" spc="-295" b="1">
                <a:latin typeface="Tahoma"/>
                <a:cs typeface="Tahoma"/>
              </a:rPr>
              <a:t> </a:t>
            </a:r>
            <a:r>
              <a:rPr dirty="0" sz="1600" spc="-90">
                <a:latin typeface="Tahoma"/>
                <a:cs typeface="Tahoma"/>
              </a:rPr>
              <a:t>).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User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will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also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be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provided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with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option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to 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order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customizable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product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according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their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own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choice.</a:t>
            </a:r>
            <a:endParaRPr sz="1600">
              <a:latin typeface="Tahoma"/>
              <a:cs typeface="Tahoma"/>
            </a:endParaRPr>
          </a:p>
          <a:p>
            <a:pPr marL="299085" indent="-28702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1600" spc="-20">
                <a:latin typeface="Tahoma"/>
                <a:cs typeface="Tahoma"/>
              </a:rPr>
              <a:t>Provide</a:t>
            </a:r>
            <a:r>
              <a:rPr dirty="0" sz="1600" spc="-225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“</a:t>
            </a:r>
            <a:r>
              <a:rPr dirty="0" sz="1600" spc="-45" b="1">
                <a:latin typeface="Tahoma"/>
                <a:cs typeface="Tahoma"/>
              </a:rPr>
              <a:t>DoP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45" b="1">
                <a:latin typeface="Tahoma"/>
                <a:cs typeface="Tahoma"/>
              </a:rPr>
              <a:t>Certified</a:t>
            </a:r>
            <a:r>
              <a:rPr dirty="0" sz="1600" spc="-45">
                <a:latin typeface="Tahoma"/>
                <a:cs typeface="Tahoma"/>
              </a:rPr>
              <a:t>”</a:t>
            </a:r>
            <a:r>
              <a:rPr dirty="0" sz="1600" spc="-26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badge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to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trusted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sellers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after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proper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checks.</a:t>
            </a:r>
            <a:endParaRPr sz="1600">
              <a:latin typeface="Tahoma"/>
              <a:cs typeface="Tahoma"/>
            </a:endParaRPr>
          </a:p>
          <a:p>
            <a:pPr marL="299085" marR="39433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1600" spc="30">
                <a:latin typeface="Tahoma"/>
                <a:cs typeface="Tahoma"/>
              </a:rPr>
              <a:t>Use </a:t>
            </a:r>
            <a:r>
              <a:rPr dirty="0" sz="1600" spc="-60" b="1">
                <a:latin typeface="Tahoma"/>
                <a:cs typeface="Tahoma"/>
              </a:rPr>
              <a:t>DoP’s </a:t>
            </a:r>
            <a:r>
              <a:rPr dirty="0" sz="1600" spc="-105" b="1">
                <a:latin typeface="Tahoma"/>
                <a:cs typeface="Tahoma"/>
              </a:rPr>
              <a:t>(Department </a:t>
            </a:r>
            <a:r>
              <a:rPr dirty="0" sz="1600" spc="-80" b="1">
                <a:latin typeface="Tahoma"/>
                <a:cs typeface="Tahoma"/>
              </a:rPr>
              <a:t>of </a:t>
            </a:r>
            <a:r>
              <a:rPr dirty="0" sz="1600" spc="-85" b="1">
                <a:latin typeface="Tahoma"/>
                <a:cs typeface="Tahoma"/>
              </a:rPr>
              <a:t>post’s) </a:t>
            </a:r>
            <a:r>
              <a:rPr dirty="0" sz="1600" spc="-5">
                <a:latin typeface="Tahoma"/>
                <a:cs typeface="Tahoma"/>
              </a:rPr>
              <a:t>global </a:t>
            </a:r>
            <a:r>
              <a:rPr dirty="0" sz="1600" spc="-25">
                <a:latin typeface="Tahoma"/>
                <a:cs typeface="Tahoma"/>
              </a:rPr>
              <a:t>network </a:t>
            </a:r>
            <a:r>
              <a:rPr dirty="0" sz="1600" spc="25">
                <a:latin typeface="Tahoma"/>
                <a:cs typeface="Tahoma"/>
              </a:rPr>
              <a:t>across </a:t>
            </a:r>
            <a:r>
              <a:rPr dirty="0" sz="1600" spc="-175" b="1">
                <a:latin typeface="Tahoma"/>
                <a:cs typeface="Tahoma"/>
              </a:rPr>
              <a:t>219 </a:t>
            </a:r>
            <a:r>
              <a:rPr dirty="0" sz="1600" spc="-170" b="1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countries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for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affordable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&amp;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reliable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shipping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225">
                <a:latin typeface="Tahoma"/>
                <a:cs typeface="Tahoma"/>
              </a:rPr>
              <a:t>(</a:t>
            </a:r>
            <a:r>
              <a:rPr dirty="0" sz="1600" spc="-225" b="1">
                <a:latin typeface="Tahoma"/>
                <a:cs typeface="Tahoma"/>
              </a:rPr>
              <a:t>30-50%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cheaper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than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priv</a:t>
            </a:r>
            <a:r>
              <a:rPr dirty="0" sz="1600" spc="-35">
                <a:latin typeface="Tahoma"/>
                <a:cs typeface="Tahoma"/>
              </a:rPr>
              <a:t>a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c</a:t>
            </a:r>
            <a:r>
              <a:rPr dirty="0" sz="1600" spc="55">
                <a:latin typeface="Tahoma"/>
                <a:cs typeface="Tahoma"/>
              </a:rPr>
              <a:t>o</a:t>
            </a:r>
            <a:r>
              <a:rPr dirty="0" sz="1600" spc="-5">
                <a:latin typeface="Tahoma"/>
                <a:cs typeface="Tahoma"/>
              </a:rPr>
              <a:t>u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 spc="-10">
                <a:latin typeface="Tahoma"/>
                <a:cs typeface="Tahoma"/>
              </a:rPr>
              <a:t>ier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se</a:t>
            </a:r>
            <a:r>
              <a:rPr dirty="0" sz="1600" spc="20">
                <a:latin typeface="Tahoma"/>
                <a:cs typeface="Tahoma"/>
              </a:rPr>
              <a:t>r</a:t>
            </a:r>
            <a:r>
              <a:rPr dirty="0" sz="1600" spc="-15">
                <a:latin typeface="Tahoma"/>
                <a:cs typeface="Tahoma"/>
              </a:rPr>
              <a:t>vices).</a:t>
            </a:r>
            <a:endParaRPr sz="1600">
              <a:latin typeface="Tahoma"/>
              <a:cs typeface="Tahoma"/>
            </a:endParaRPr>
          </a:p>
          <a:p>
            <a:pPr marL="299085" marR="12890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sz="1600" spc="-15">
                <a:latin typeface="Tahoma"/>
                <a:cs typeface="Tahoma"/>
              </a:rPr>
              <a:t>Ensure </a:t>
            </a:r>
            <a:r>
              <a:rPr dirty="0" sz="1600" spc="-55" b="1">
                <a:latin typeface="Tahoma"/>
                <a:cs typeface="Tahoma"/>
              </a:rPr>
              <a:t>secure </a:t>
            </a:r>
            <a:r>
              <a:rPr dirty="0" sz="1600" spc="-95" b="1">
                <a:latin typeface="Tahoma"/>
                <a:cs typeface="Tahoma"/>
              </a:rPr>
              <a:t>payment </a:t>
            </a:r>
            <a:r>
              <a:rPr dirty="0" sz="1600" spc="5">
                <a:latin typeface="Tahoma"/>
                <a:cs typeface="Tahoma"/>
              </a:rPr>
              <a:t>processing </a:t>
            </a:r>
            <a:r>
              <a:rPr dirty="0" sz="1600" spc="-5">
                <a:latin typeface="Tahoma"/>
                <a:cs typeface="Tahoma"/>
              </a:rPr>
              <a:t>and </a:t>
            </a:r>
            <a:r>
              <a:rPr dirty="0" sz="1600" spc="5">
                <a:latin typeface="Tahoma"/>
                <a:cs typeface="Tahoma"/>
              </a:rPr>
              <a:t>product </a:t>
            </a:r>
            <a:r>
              <a:rPr dirty="0" sz="1600" spc="-10">
                <a:latin typeface="Tahoma"/>
                <a:cs typeface="Tahoma"/>
              </a:rPr>
              <a:t>verification </a:t>
            </a:r>
            <a:r>
              <a:rPr dirty="0" sz="1600" spc="-15">
                <a:latin typeface="Tahoma"/>
                <a:cs typeface="Tahoma"/>
              </a:rPr>
              <a:t>to 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guarantee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authenticity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quality,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addressing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concerns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over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310" b="1">
                <a:latin typeface="Tahoma"/>
                <a:cs typeface="Tahoma"/>
              </a:rPr>
              <a:t>60% </a:t>
            </a:r>
            <a:r>
              <a:rPr dirty="0" sz="1600" spc="-305" b="1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diaspora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buyers</a:t>
            </a:r>
            <a:r>
              <a:rPr dirty="0" sz="1600" spc="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who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demand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trusted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&amp;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certified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sources.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87133" y="1320038"/>
            <a:ext cx="5172710" cy="2334895"/>
            <a:chOff x="6787133" y="1320038"/>
            <a:chExt cx="5172710" cy="2334895"/>
          </a:xfrm>
        </p:grpSpPr>
        <p:sp>
          <p:nvSpPr>
            <p:cNvPr id="12" name="object 12"/>
            <p:cNvSpPr/>
            <p:nvPr/>
          </p:nvSpPr>
          <p:spPr>
            <a:xfrm>
              <a:off x="6799833" y="1332738"/>
              <a:ext cx="5147310" cy="2309495"/>
            </a:xfrm>
            <a:custGeom>
              <a:avLst/>
              <a:gdLst/>
              <a:ahLst/>
              <a:cxnLst/>
              <a:rect l="l" t="t" r="r" b="b"/>
              <a:pathLst>
                <a:path w="5147309" h="2309495">
                  <a:moveTo>
                    <a:pt x="0" y="2309241"/>
                  </a:moveTo>
                  <a:lnTo>
                    <a:pt x="5147183" y="2309241"/>
                  </a:lnTo>
                  <a:lnTo>
                    <a:pt x="5147183" y="0"/>
                  </a:lnTo>
                  <a:lnTo>
                    <a:pt x="0" y="0"/>
                  </a:lnTo>
                  <a:lnTo>
                    <a:pt x="0" y="2309241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7977" y="2585618"/>
              <a:ext cx="1017256" cy="5813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682864" y="2593594"/>
              <a:ext cx="968375" cy="524510"/>
            </a:xfrm>
            <a:custGeom>
              <a:avLst/>
              <a:gdLst/>
              <a:ahLst/>
              <a:cxnLst/>
              <a:rect l="l" t="t" r="r" b="b"/>
              <a:pathLst>
                <a:path w="968375" h="524510">
                  <a:moveTo>
                    <a:pt x="899701" y="33315"/>
                  </a:moveTo>
                  <a:lnTo>
                    <a:pt x="0" y="518667"/>
                  </a:lnTo>
                  <a:lnTo>
                    <a:pt x="3048" y="524255"/>
                  </a:lnTo>
                  <a:lnTo>
                    <a:pt x="902724" y="38917"/>
                  </a:lnTo>
                  <a:lnTo>
                    <a:pt x="899701" y="33315"/>
                  </a:lnTo>
                  <a:close/>
                </a:path>
                <a:path w="968375" h="524510">
                  <a:moveTo>
                    <a:pt x="949099" y="27304"/>
                  </a:moveTo>
                  <a:lnTo>
                    <a:pt x="910843" y="27304"/>
                  </a:lnTo>
                  <a:lnTo>
                    <a:pt x="913891" y="32892"/>
                  </a:lnTo>
                  <a:lnTo>
                    <a:pt x="902724" y="38917"/>
                  </a:lnTo>
                  <a:lnTo>
                    <a:pt x="919352" y="69722"/>
                  </a:lnTo>
                  <a:lnTo>
                    <a:pt x="949099" y="27304"/>
                  </a:lnTo>
                  <a:close/>
                </a:path>
                <a:path w="968375" h="524510">
                  <a:moveTo>
                    <a:pt x="910843" y="27304"/>
                  </a:moveTo>
                  <a:lnTo>
                    <a:pt x="899701" y="33315"/>
                  </a:lnTo>
                  <a:lnTo>
                    <a:pt x="902724" y="38917"/>
                  </a:lnTo>
                  <a:lnTo>
                    <a:pt x="913891" y="32892"/>
                  </a:lnTo>
                  <a:lnTo>
                    <a:pt x="910843" y="27304"/>
                  </a:lnTo>
                  <a:close/>
                </a:path>
                <a:path w="968375" h="524510">
                  <a:moveTo>
                    <a:pt x="968248" y="0"/>
                  </a:moveTo>
                  <a:lnTo>
                    <a:pt x="883157" y="2666"/>
                  </a:lnTo>
                  <a:lnTo>
                    <a:pt x="899701" y="33315"/>
                  </a:lnTo>
                  <a:lnTo>
                    <a:pt x="910843" y="27304"/>
                  </a:lnTo>
                  <a:lnTo>
                    <a:pt x="949099" y="27304"/>
                  </a:lnTo>
                  <a:lnTo>
                    <a:pt x="968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59362" y="2787446"/>
              <a:ext cx="677671" cy="6235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4856" y="2830398"/>
              <a:ext cx="568439" cy="5639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8664" y="2220556"/>
              <a:ext cx="1038301" cy="7399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69723" y="1426122"/>
              <a:ext cx="615502" cy="4052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59496" y="2536952"/>
              <a:ext cx="881633" cy="8186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9099" y="3325393"/>
              <a:ext cx="2970276" cy="2346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81517" y="3387852"/>
              <a:ext cx="2813050" cy="76200"/>
            </a:xfrm>
            <a:custGeom>
              <a:avLst/>
              <a:gdLst/>
              <a:ahLst/>
              <a:cxnLst/>
              <a:rect l="l" t="t" r="r" b="b"/>
              <a:pathLst>
                <a:path w="2813050" h="76200">
                  <a:moveTo>
                    <a:pt x="2806859" y="34798"/>
                  </a:moveTo>
                  <a:lnTo>
                    <a:pt x="2748914" y="34798"/>
                  </a:lnTo>
                  <a:lnTo>
                    <a:pt x="2749041" y="41148"/>
                  </a:lnTo>
                  <a:lnTo>
                    <a:pt x="2736362" y="41231"/>
                  </a:lnTo>
                  <a:lnTo>
                    <a:pt x="2736596" y="76200"/>
                  </a:lnTo>
                  <a:lnTo>
                    <a:pt x="2812541" y="37592"/>
                  </a:lnTo>
                  <a:lnTo>
                    <a:pt x="2806859" y="34798"/>
                  </a:lnTo>
                  <a:close/>
                </a:path>
                <a:path w="2813050" h="76200">
                  <a:moveTo>
                    <a:pt x="2736320" y="34881"/>
                  </a:moveTo>
                  <a:lnTo>
                    <a:pt x="0" y="52959"/>
                  </a:lnTo>
                  <a:lnTo>
                    <a:pt x="0" y="59309"/>
                  </a:lnTo>
                  <a:lnTo>
                    <a:pt x="2736362" y="41231"/>
                  </a:lnTo>
                  <a:lnTo>
                    <a:pt x="2736320" y="34881"/>
                  </a:lnTo>
                  <a:close/>
                </a:path>
                <a:path w="2813050" h="76200">
                  <a:moveTo>
                    <a:pt x="2748914" y="34798"/>
                  </a:moveTo>
                  <a:lnTo>
                    <a:pt x="2736320" y="34881"/>
                  </a:lnTo>
                  <a:lnTo>
                    <a:pt x="2736362" y="41231"/>
                  </a:lnTo>
                  <a:lnTo>
                    <a:pt x="2749041" y="41148"/>
                  </a:lnTo>
                  <a:lnTo>
                    <a:pt x="2748914" y="34798"/>
                  </a:lnTo>
                  <a:close/>
                </a:path>
                <a:path w="2813050" h="76200">
                  <a:moveTo>
                    <a:pt x="2736087" y="0"/>
                  </a:moveTo>
                  <a:lnTo>
                    <a:pt x="2736320" y="34881"/>
                  </a:lnTo>
                  <a:lnTo>
                    <a:pt x="2806859" y="34798"/>
                  </a:lnTo>
                  <a:lnTo>
                    <a:pt x="2736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34329" y="2601447"/>
              <a:ext cx="1213356" cy="51076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58374" y="1874774"/>
              <a:ext cx="1208658" cy="119278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138157" y="1868170"/>
              <a:ext cx="100965" cy="352425"/>
            </a:xfrm>
            <a:custGeom>
              <a:avLst/>
              <a:gdLst/>
              <a:ahLst/>
              <a:cxnLst/>
              <a:rect l="l" t="t" r="r" b="b"/>
              <a:pathLst>
                <a:path w="100965" h="352425">
                  <a:moveTo>
                    <a:pt x="5334" y="261112"/>
                  </a:moveTo>
                  <a:lnTo>
                    <a:pt x="3048" y="262508"/>
                  </a:lnTo>
                  <a:lnTo>
                    <a:pt x="762" y="263778"/>
                  </a:lnTo>
                  <a:lnTo>
                    <a:pt x="0" y="266700"/>
                  </a:lnTo>
                  <a:lnTo>
                    <a:pt x="1397" y="268985"/>
                  </a:lnTo>
                  <a:lnTo>
                    <a:pt x="49657" y="352425"/>
                  </a:lnTo>
                  <a:lnTo>
                    <a:pt x="55175" y="343026"/>
                  </a:lnTo>
                  <a:lnTo>
                    <a:pt x="44958" y="342900"/>
                  </a:lnTo>
                  <a:lnTo>
                    <a:pt x="44889" y="325292"/>
                  </a:lnTo>
                  <a:lnTo>
                    <a:pt x="9651" y="264159"/>
                  </a:lnTo>
                  <a:lnTo>
                    <a:pt x="8255" y="262000"/>
                  </a:lnTo>
                  <a:lnTo>
                    <a:pt x="5334" y="261112"/>
                  </a:lnTo>
                  <a:close/>
                </a:path>
                <a:path w="100965" h="352425">
                  <a:moveTo>
                    <a:pt x="45010" y="325503"/>
                  </a:moveTo>
                  <a:lnTo>
                    <a:pt x="44958" y="342900"/>
                  </a:lnTo>
                  <a:lnTo>
                    <a:pt x="54483" y="343026"/>
                  </a:lnTo>
                  <a:lnTo>
                    <a:pt x="54490" y="340613"/>
                  </a:lnTo>
                  <a:lnTo>
                    <a:pt x="45593" y="340487"/>
                  </a:lnTo>
                  <a:lnTo>
                    <a:pt x="49662" y="333573"/>
                  </a:lnTo>
                  <a:lnTo>
                    <a:pt x="45010" y="325503"/>
                  </a:lnTo>
                  <a:close/>
                </a:path>
                <a:path w="100965" h="352425">
                  <a:moveTo>
                    <a:pt x="94488" y="261492"/>
                  </a:moveTo>
                  <a:lnTo>
                    <a:pt x="91567" y="262254"/>
                  </a:lnTo>
                  <a:lnTo>
                    <a:pt x="90297" y="264540"/>
                  </a:lnTo>
                  <a:lnTo>
                    <a:pt x="54537" y="325292"/>
                  </a:lnTo>
                  <a:lnTo>
                    <a:pt x="54483" y="343026"/>
                  </a:lnTo>
                  <a:lnTo>
                    <a:pt x="55175" y="343026"/>
                  </a:lnTo>
                  <a:lnTo>
                    <a:pt x="98425" y="269366"/>
                  </a:lnTo>
                  <a:lnTo>
                    <a:pt x="99822" y="267080"/>
                  </a:lnTo>
                  <a:lnTo>
                    <a:pt x="99060" y="264159"/>
                  </a:lnTo>
                  <a:lnTo>
                    <a:pt x="96774" y="262763"/>
                  </a:lnTo>
                  <a:lnTo>
                    <a:pt x="94488" y="261492"/>
                  </a:lnTo>
                  <a:close/>
                </a:path>
                <a:path w="100965" h="352425">
                  <a:moveTo>
                    <a:pt x="49662" y="333573"/>
                  </a:moveTo>
                  <a:lnTo>
                    <a:pt x="45593" y="340487"/>
                  </a:lnTo>
                  <a:lnTo>
                    <a:pt x="53721" y="340613"/>
                  </a:lnTo>
                  <a:lnTo>
                    <a:pt x="49662" y="333573"/>
                  </a:lnTo>
                  <a:close/>
                </a:path>
                <a:path w="100965" h="352425">
                  <a:moveTo>
                    <a:pt x="54537" y="325292"/>
                  </a:moveTo>
                  <a:lnTo>
                    <a:pt x="49662" y="333573"/>
                  </a:lnTo>
                  <a:lnTo>
                    <a:pt x="53721" y="340613"/>
                  </a:lnTo>
                  <a:lnTo>
                    <a:pt x="54490" y="340613"/>
                  </a:lnTo>
                  <a:lnTo>
                    <a:pt x="54537" y="325292"/>
                  </a:lnTo>
                  <a:close/>
                </a:path>
                <a:path w="100965" h="352425">
                  <a:moveTo>
                    <a:pt x="50764" y="18787"/>
                  </a:moveTo>
                  <a:lnTo>
                    <a:pt x="45920" y="27030"/>
                  </a:lnTo>
                  <a:lnTo>
                    <a:pt x="45010" y="325503"/>
                  </a:lnTo>
                  <a:lnTo>
                    <a:pt x="49662" y="333573"/>
                  </a:lnTo>
                  <a:lnTo>
                    <a:pt x="54537" y="325292"/>
                  </a:lnTo>
                  <a:lnTo>
                    <a:pt x="55446" y="26896"/>
                  </a:lnTo>
                  <a:lnTo>
                    <a:pt x="50764" y="18787"/>
                  </a:lnTo>
                  <a:close/>
                </a:path>
                <a:path w="100965" h="352425">
                  <a:moveTo>
                    <a:pt x="56235" y="9397"/>
                  </a:moveTo>
                  <a:lnTo>
                    <a:pt x="45974" y="9397"/>
                  </a:lnTo>
                  <a:lnTo>
                    <a:pt x="55499" y="9525"/>
                  </a:lnTo>
                  <a:lnTo>
                    <a:pt x="55523" y="27030"/>
                  </a:lnTo>
                  <a:lnTo>
                    <a:pt x="90882" y="88264"/>
                  </a:lnTo>
                  <a:lnTo>
                    <a:pt x="92201" y="90424"/>
                  </a:lnTo>
                  <a:lnTo>
                    <a:pt x="95123" y="91185"/>
                  </a:lnTo>
                  <a:lnTo>
                    <a:pt x="99695" y="88645"/>
                  </a:lnTo>
                  <a:lnTo>
                    <a:pt x="100457" y="85725"/>
                  </a:lnTo>
                  <a:lnTo>
                    <a:pt x="99060" y="83438"/>
                  </a:lnTo>
                  <a:lnTo>
                    <a:pt x="56235" y="9397"/>
                  </a:lnTo>
                  <a:close/>
                </a:path>
                <a:path w="100965" h="352425">
                  <a:moveTo>
                    <a:pt x="50800" y="0"/>
                  </a:moveTo>
                  <a:lnTo>
                    <a:pt x="2032" y="83057"/>
                  </a:lnTo>
                  <a:lnTo>
                    <a:pt x="635" y="85343"/>
                  </a:lnTo>
                  <a:lnTo>
                    <a:pt x="1397" y="88264"/>
                  </a:lnTo>
                  <a:lnTo>
                    <a:pt x="3683" y="89662"/>
                  </a:lnTo>
                  <a:lnTo>
                    <a:pt x="5969" y="90931"/>
                  </a:lnTo>
                  <a:lnTo>
                    <a:pt x="8890" y="90169"/>
                  </a:lnTo>
                  <a:lnTo>
                    <a:pt x="10160" y="87883"/>
                  </a:lnTo>
                  <a:lnTo>
                    <a:pt x="45920" y="27030"/>
                  </a:lnTo>
                  <a:lnTo>
                    <a:pt x="45974" y="9397"/>
                  </a:lnTo>
                  <a:lnTo>
                    <a:pt x="56235" y="9397"/>
                  </a:lnTo>
                  <a:lnTo>
                    <a:pt x="50800" y="0"/>
                  </a:lnTo>
                  <a:close/>
                </a:path>
                <a:path w="100965" h="352425">
                  <a:moveTo>
                    <a:pt x="45974" y="9397"/>
                  </a:moveTo>
                  <a:lnTo>
                    <a:pt x="45920" y="27030"/>
                  </a:lnTo>
                  <a:lnTo>
                    <a:pt x="50764" y="18787"/>
                  </a:lnTo>
                  <a:lnTo>
                    <a:pt x="46736" y="11810"/>
                  </a:lnTo>
                  <a:lnTo>
                    <a:pt x="55492" y="11810"/>
                  </a:lnTo>
                  <a:lnTo>
                    <a:pt x="55499" y="9525"/>
                  </a:lnTo>
                  <a:lnTo>
                    <a:pt x="45974" y="9397"/>
                  </a:lnTo>
                  <a:close/>
                </a:path>
                <a:path w="100965" h="352425">
                  <a:moveTo>
                    <a:pt x="55492" y="11810"/>
                  </a:moveTo>
                  <a:lnTo>
                    <a:pt x="54864" y="11810"/>
                  </a:lnTo>
                  <a:lnTo>
                    <a:pt x="50764" y="18787"/>
                  </a:lnTo>
                  <a:lnTo>
                    <a:pt x="55446" y="26896"/>
                  </a:lnTo>
                  <a:lnTo>
                    <a:pt x="55492" y="11810"/>
                  </a:lnTo>
                  <a:close/>
                </a:path>
                <a:path w="100965" h="352425">
                  <a:moveTo>
                    <a:pt x="54864" y="11810"/>
                  </a:moveTo>
                  <a:lnTo>
                    <a:pt x="46736" y="11810"/>
                  </a:lnTo>
                  <a:lnTo>
                    <a:pt x="50764" y="18787"/>
                  </a:lnTo>
                  <a:lnTo>
                    <a:pt x="54864" y="1181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783705" y="4184865"/>
            <a:ext cx="5333365" cy="224663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 algn="r" marL="287020" marR="622935" indent="-287020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287020" algn="l"/>
              </a:tabLst>
            </a:pP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Users</a:t>
            </a:r>
            <a:r>
              <a:rPr dirty="0" sz="1600" spc="-18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111111"/>
                </a:solidFill>
                <a:latin typeface="Tahoma"/>
                <a:cs typeface="Tahoma"/>
              </a:rPr>
              <a:t>can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75" b="1">
                <a:solidFill>
                  <a:srgbClr val="111111"/>
                </a:solidFill>
                <a:latin typeface="Tahoma"/>
                <a:cs typeface="Tahoma"/>
              </a:rPr>
              <a:t>customize</a:t>
            </a:r>
            <a:r>
              <a:rPr dirty="0" sz="1600" spc="-114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70" b="1">
                <a:solidFill>
                  <a:srgbClr val="111111"/>
                </a:solidFill>
                <a:latin typeface="Tahoma"/>
                <a:cs typeface="Tahoma"/>
              </a:rPr>
              <a:t>products</a:t>
            </a:r>
            <a:r>
              <a:rPr dirty="0" sz="1600" spc="-13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according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their</a:t>
            </a:r>
            <a:endParaRPr sz="1600">
              <a:latin typeface="Tahoma"/>
              <a:cs typeface="Tahoma"/>
            </a:endParaRPr>
          </a:p>
          <a:p>
            <a:pPr algn="r" marR="621665">
              <a:lnSpc>
                <a:spcPct val="100000"/>
              </a:lnSpc>
            </a:pP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preferences,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increasing</a:t>
            </a:r>
            <a:r>
              <a:rPr dirty="0" sz="1600" spc="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personalized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experience.</a:t>
            </a:r>
            <a:endParaRPr sz="160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Product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offering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02429"/>
                </a:solidFill>
                <a:latin typeface="Tahoma"/>
                <a:cs typeface="Tahoma"/>
              </a:rPr>
              <a:t>according</a:t>
            </a:r>
            <a:r>
              <a:rPr dirty="0" sz="1600" spc="-135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202429"/>
                </a:solidFill>
                <a:latin typeface="Tahoma"/>
                <a:cs typeface="Tahoma"/>
              </a:rPr>
              <a:t>to</a:t>
            </a:r>
            <a:r>
              <a:rPr dirty="0" sz="1600" spc="-165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202429"/>
                </a:solidFill>
                <a:latin typeface="Tahoma"/>
                <a:cs typeface="Tahoma"/>
              </a:rPr>
              <a:t>different</a:t>
            </a:r>
            <a:r>
              <a:rPr dirty="0" sz="1600" spc="-145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202429"/>
                </a:solidFill>
                <a:latin typeface="Tahoma"/>
                <a:cs typeface="Tahoma"/>
              </a:rPr>
              <a:t>Indian</a:t>
            </a:r>
            <a:r>
              <a:rPr dirty="0" sz="1600" spc="-135" b="1">
                <a:solidFill>
                  <a:srgbClr val="202429"/>
                </a:solidFill>
                <a:latin typeface="Tahoma"/>
                <a:cs typeface="Tahoma"/>
              </a:rPr>
              <a:t> </a:t>
            </a:r>
            <a:r>
              <a:rPr dirty="0" sz="1600" spc="-65" b="1">
                <a:solidFill>
                  <a:srgbClr val="202429"/>
                </a:solidFill>
                <a:latin typeface="Tahoma"/>
                <a:cs typeface="Tahoma"/>
              </a:rPr>
              <a:t>Festivals</a:t>
            </a:r>
            <a:endParaRPr sz="160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dirty="0" sz="1600" spc="55" b="1">
                <a:latin typeface="Tahoma"/>
                <a:cs typeface="Tahoma"/>
              </a:rPr>
              <a:t>C</a:t>
            </a:r>
            <a:r>
              <a:rPr dirty="0" sz="1600" spc="-100" b="1">
                <a:latin typeface="Tahoma"/>
                <a:cs typeface="Tahoma"/>
              </a:rPr>
              <a:t>h</a:t>
            </a:r>
            <a:r>
              <a:rPr dirty="0" sz="1600" spc="-110" b="1">
                <a:latin typeface="Tahoma"/>
                <a:cs typeface="Tahoma"/>
              </a:rPr>
              <a:t>a</a:t>
            </a:r>
            <a:r>
              <a:rPr dirty="0" sz="1600" spc="-100" b="1">
                <a:latin typeface="Tahoma"/>
                <a:cs typeface="Tahoma"/>
              </a:rPr>
              <a:t>t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f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10">
                <a:latin typeface="Tahoma"/>
                <a:cs typeface="Tahoma"/>
              </a:rPr>
              <a:t>a</a:t>
            </a:r>
            <a:r>
              <a:rPr dirty="0" sz="1600" spc="-30">
                <a:latin typeface="Tahoma"/>
                <a:cs typeface="Tahoma"/>
              </a:rPr>
              <a:t>tu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55">
                <a:latin typeface="Tahoma"/>
                <a:cs typeface="Tahoma"/>
              </a:rPr>
              <a:t>w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se</a:t>
            </a:r>
            <a:r>
              <a:rPr dirty="0" sz="1600" spc="25">
                <a:latin typeface="Tahoma"/>
                <a:cs typeface="Tahoma"/>
              </a:rPr>
              <a:t>l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-19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arti</a:t>
            </a:r>
            <a:r>
              <a:rPr dirty="0" sz="1600" spc="5">
                <a:latin typeface="Tahoma"/>
                <a:cs typeface="Tahoma"/>
              </a:rPr>
              <a:t>s</a:t>
            </a:r>
            <a:r>
              <a:rPr dirty="0" sz="1600" spc="15">
                <a:latin typeface="Tahoma"/>
                <a:cs typeface="Tahoma"/>
              </a:rPr>
              <a:t>an</a:t>
            </a:r>
            <a:r>
              <a:rPr dirty="0" sz="1600" spc="15">
                <a:latin typeface="Tahoma"/>
                <a:cs typeface="Tahoma"/>
              </a:rPr>
              <a:t>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endParaRPr sz="1600">
              <a:latin typeface="Tahoma"/>
              <a:cs typeface="Tahoma"/>
            </a:endParaRPr>
          </a:p>
          <a:p>
            <a:pPr marL="378460">
              <a:lnSpc>
                <a:spcPct val="100000"/>
              </a:lnSpc>
            </a:pPr>
            <a:r>
              <a:rPr dirty="0" sz="1600" spc="-75" b="1">
                <a:latin typeface="Tahoma"/>
                <a:cs typeface="Tahoma"/>
              </a:rPr>
              <a:t>communi</a:t>
            </a:r>
            <a:r>
              <a:rPr dirty="0" sz="1600" spc="20" b="1">
                <a:latin typeface="Tahoma"/>
                <a:cs typeface="Tahoma"/>
              </a:rPr>
              <a:t>c</a:t>
            </a:r>
            <a:r>
              <a:rPr dirty="0" sz="1600" spc="-95" b="1">
                <a:latin typeface="Tahoma"/>
                <a:cs typeface="Tahoma"/>
              </a:rPr>
              <a:t>a</a:t>
            </a:r>
            <a:r>
              <a:rPr dirty="0" sz="1600" spc="-120" b="1">
                <a:latin typeface="Tahoma"/>
                <a:cs typeface="Tahoma"/>
              </a:rPr>
              <a:t>t</a:t>
            </a:r>
            <a:r>
              <a:rPr dirty="0" sz="1600" spc="-65" b="1">
                <a:latin typeface="Tahoma"/>
                <a:cs typeface="Tahoma"/>
              </a:rPr>
              <a:t>e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d</a:t>
            </a:r>
            <a:r>
              <a:rPr dirty="0" sz="1600" spc="10">
                <a:latin typeface="Tahoma"/>
                <a:cs typeface="Tahoma"/>
              </a:rPr>
              <a:t>i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35">
                <a:latin typeface="Tahoma"/>
                <a:cs typeface="Tahoma"/>
              </a:rPr>
              <a:t>ect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-80">
                <a:latin typeface="Tahoma"/>
                <a:cs typeface="Tahoma"/>
              </a:rPr>
              <a:t>y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ensu</a:t>
            </a:r>
            <a:r>
              <a:rPr dirty="0" sz="1600" spc="-10">
                <a:latin typeface="Tahoma"/>
                <a:cs typeface="Tahoma"/>
              </a:rPr>
              <a:t>r</a:t>
            </a:r>
            <a:r>
              <a:rPr dirty="0" sz="1600" spc="-40">
                <a:latin typeface="Tahoma"/>
                <a:cs typeface="Tahoma"/>
              </a:rPr>
              <a:t>ing</a:t>
            </a:r>
            <a:r>
              <a:rPr dirty="0" sz="1600" spc="190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t</a:t>
            </a:r>
            <a:r>
              <a:rPr dirty="0" sz="1600" spc="-160" b="1">
                <a:latin typeface="Tahoma"/>
                <a:cs typeface="Tahoma"/>
              </a:rPr>
              <a:t>r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65" b="1">
                <a:latin typeface="Tahoma"/>
                <a:cs typeface="Tahoma"/>
              </a:rPr>
              <a:t>ns</a:t>
            </a:r>
            <a:r>
              <a:rPr dirty="0" sz="1600" spc="-65" b="1">
                <a:latin typeface="Tahoma"/>
                <a:cs typeface="Tahoma"/>
              </a:rPr>
              <a:t>p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120" b="1">
                <a:latin typeface="Tahoma"/>
                <a:cs typeface="Tahoma"/>
              </a:rPr>
              <a:t>r</a:t>
            </a:r>
            <a:r>
              <a:rPr dirty="0" sz="1600" spc="-55" b="1">
                <a:latin typeface="Tahoma"/>
                <a:cs typeface="Tahoma"/>
              </a:rPr>
              <a:t>en</a:t>
            </a:r>
            <a:r>
              <a:rPr dirty="0" sz="1600" spc="-55" b="1">
                <a:latin typeface="Tahoma"/>
                <a:cs typeface="Tahoma"/>
              </a:rPr>
              <a:t>c</a:t>
            </a:r>
            <a:r>
              <a:rPr dirty="0" sz="1600" spc="-130" b="1">
                <a:latin typeface="Tahoma"/>
                <a:cs typeface="Tahoma"/>
              </a:rPr>
              <a:t>y</a:t>
            </a:r>
            <a:r>
              <a:rPr dirty="0" sz="1600" spc="-3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dirty="0" sz="1600" spc="-80" b="1">
                <a:solidFill>
                  <a:srgbClr val="111111"/>
                </a:solidFill>
                <a:latin typeface="Tahoma"/>
                <a:cs typeface="Tahoma"/>
              </a:rPr>
              <a:t>Multicurrency</a:t>
            </a:r>
            <a:r>
              <a:rPr dirty="0" sz="1600" spc="-12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111111"/>
                </a:solidFill>
                <a:latin typeface="Tahoma"/>
                <a:cs typeface="Tahoma"/>
              </a:rPr>
              <a:t>Support</a:t>
            </a:r>
            <a:r>
              <a:rPr dirty="0" sz="1600" spc="-16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for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international</a:t>
            </a:r>
            <a:r>
              <a:rPr dirty="0" sz="1600" spc="-1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Customer</a:t>
            </a:r>
            <a:endParaRPr sz="1600">
              <a:latin typeface="Tahoma"/>
              <a:cs typeface="Tahoma"/>
            </a:endParaRPr>
          </a:p>
          <a:p>
            <a:pPr marL="378460" indent="-2870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379095" algn="l"/>
              </a:tabLst>
            </a:pPr>
            <a:r>
              <a:rPr dirty="0" sz="1600" spc="-95" b="1">
                <a:latin typeface="Tahoma"/>
                <a:cs typeface="Tahoma"/>
              </a:rPr>
              <a:t>Smart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Contracts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will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made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once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product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is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finalized</a:t>
            </a:r>
            <a:endParaRPr sz="1600">
              <a:latin typeface="Tahoma"/>
              <a:cs typeface="Tahoma"/>
            </a:endParaRPr>
          </a:p>
          <a:p>
            <a:pPr marL="378460">
              <a:lnSpc>
                <a:spcPct val="100000"/>
              </a:lnSpc>
            </a:pPr>
            <a:r>
              <a:rPr dirty="0" sz="1600" spc="-15">
                <a:latin typeface="Tahoma"/>
                <a:cs typeface="Tahoma"/>
              </a:rPr>
              <a:t>to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ensure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security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&amp;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authenticity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at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both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ends.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0981" y="3715892"/>
            <a:ext cx="4643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Unique</a:t>
            </a:r>
            <a:r>
              <a:rPr dirty="0" sz="2400" b="1">
                <a:latin typeface="Times New Roman"/>
                <a:cs typeface="Times New Roman"/>
              </a:rPr>
              <a:t> Selling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Proposition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(USP)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5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0050" y="1006855"/>
            <a:ext cx="2051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Idea/Solution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spc="5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00210" y="1948942"/>
            <a:ext cx="7912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 spc="-60" b="1">
                <a:latin typeface="Tahoma"/>
                <a:cs typeface="Tahoma"/>
              </a:rPr>
              <a:t>N</a:t>
            </a:r>
            <a:r>
              <a:rPr dirty="0" sz="1100" spc="-50" b="1">
                <a:latin typeface="Tahoma"/>
                <a:cs typeface="Tahoma"/>
              </a:rPr>
              <a:t>o</a:t>
            </a:r>
            <a:r>
              <a:rPr dirty="0" sz="1100" spc="-65" b="1">
                <a:latin typeface="Tahoma"/>
                <a:cs typeface="Tahoma"/>
              </a:rPr>
              <a:t>t</a:t>
            </a:r>
            <a:r>
              <a:rPr dirty="0" sz="1100" spc="-40" b="1">
                <a:latin typeface="Tahoma"/>
                <a:cs typeface="Tahoma"/>
              </a:rPr>
              <a:t>i</a:t>
            </a:r>
            <a:r>
              <a:rPr dirty="0" sz="1100" spc="-70" b="1">
                <a:latin typeface="Tahoma"/>
                <a:cs typeface="Tahoma"/>
              </a:rPr>
              <a:t>fy</a:t>
            </a:r>
            <a:r>
              <a:rPr dirty="0" sz="1100" spc="-125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Or</a:t>
            </a:r>
            <a:r>
              <a:rPr dirty="0" sz="1100" spc="-55" b="1">
                <a:latin typeface="Tahoma"/>
                <a:cs typeface="Tahoma"/>
              </a:rPr>
              <a:t>d</a:t>
            </a:r>
            <a:r>
              <a:rPr dirty="0" sz="1100" spc="-60" b="1">
                <a:latin typeface="Tahoma"/>
                <a:cs typeface="Tahoma"/>
              </a:rPr>
              <a:t>er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178040" y="1616963"/>
            <a:ext cx="4249420" cy="1693545"/>
            <a:chOff x="7178040" y="1616963"/>
            <a:chExt cx="4249420" cy="1693545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00616" y="1616963"/>
              <a:ext cx="1926335" cy="155143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543034" y="1640077"/>
              <a:ext cx="1769745" cy="1393190"/>
            </a:xfrm>
            <a:custGeom>
              <a:avLst/>
              <a:gdLst/>
              <a:ahLst/>
              <a:cxnLst/>
              <a:rect l="l" t="t" r="r" b="b"/>
              <a:pathLst>
                <a:path w="1769745" h="1393189">
                  <a:moveTo>
                    <a:pt x="1707887" y="1348334"/>
                  </a:moveTo>
                  <a:lnTo>
                    <a:pt x="1686306" y="1375791"/>
                  </a:lnTo>
                  <a:lnTo>
                    <a:pt x="1769745" y="1392936"/>
                  </a:lnTo>
                  <a:lnTo>
                    <a:pt x="1752451" y="1356233"/>
                  </a:lnTo>
                  <a:lnTo>
                    <a:pt x="1717929" y="1356233"/>
                  </a:lnTo>
                  <a:lnTo>
                    <a:pt x="1707887" y="1348334"/>
                  </a:lnTo>
                  <a:close/>
                </a:path>
                <a:path w="1769745" h="1393189">
                  <a:moveTo>
                    <a:pt x="1711858" y="1343282"/>
                  </a:moveTo>
                  <a:lnTo>
                    <a:pt x="1707887" y="1348334"/>
                  </a:lnTo>
                  <a:lnTo>
                    <a:pt x="1717929" y="1356233"/>
                  </a:lnTo>
                  <a:lnTo>
                    <a:pt x="1721866" y="1351152"/>
                  </a:lnTo>
                  <a:lnTo>
                    <a:pt x="1711858" y="1343282"/>
                  </a:lnTo>
                  <a:close/>
                </a:path>
                <a:path w="1769745" h="1393189">
                  <a:moveTo>
                    <a:pt x="1733423" y="1315847"/>
                  </a:moveTo>
                  <a:lnTo>
                    <a:pt x="1711858" y="1343282"/>
                  </a:lnTo>
                  <a:lnTo>
                    <a:pt x="1721866" y="1351152"/>
                  </a:lnTo>
                  <a:lnTo>
                    <a:pt x="1717929" y="1356233"/>
                  </a:lnTo>
                  <a:lnTo>
                    <a:pt x="1752451" y="1356233"/>
                  </a:lnTo>
                  <a:lnTo>
                    <a:pt x="1733423" y="1315847"/>
                  </a:lnTo>
                  <a:close/>
                </a:path>
                <a:path w="1769745" h="1393189">
                  <a:moveTo>
                    <a:pt x="3937" y="0"/>
                  </a:moveTo>
                  <a:lnTo>
                    <a:pt x="0" y="4952"/>
                  </a:lnTo>
                  <a:lnTo>
                    <a:pt x="1707887" y="1348334"/>
                  </a:lnTo>
                  <a:lnTo>
                    <a:pt x="1711858" y="1343282"/>
                  </a:lnTo>
                  <a:lnTo>
                    <a:pt x="3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8040" y="1616963"/>
              <a:ext cx="1694688" cy="13441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296785" y="1640077"/>
              <a:ext cx="1538605" cy="1186180"/>
            </a:xfrm>
            <a:custGeom>
              <a:avLst/>
              <a:gdLst/>
              <a:ahLst/>
              <a:cxnLst/>
              <a:rect l="l" t="t" r="r" b="b"/>
              <a:pathLst>
                <a:path w="1538604" h="1186180">
                  <a:moveTo>
                    <a:pt x="448437" y="798322"/>
                  </a:moveTo>
                  <a:lnTo>
                    <a:pt x="435013" y="765314"/>
                  </a:lnTo>
                  <a:lnTo>
                    <a:pt x="430149" y="758964"/>
                  </a:lnTo>
                  <a:lnTo>
                    <a:pt x="429387" y="758380"/>
                  </a:lnTo>
                  <a:lnTo>
                    <a:pt x="429387" y="799592"/>
                  </a:lnTo>
                  <a:lnTo>
                    <a:pt x="429006" y="803414"/>
                  </a:lnTo>
                  <a:lnTo>
                    <a:pt x="424942" y="812292"/>
                  </a:lnTo>
                  <a:lnTo>
                    <a:pt x="421386" y="817372"/>
                  </a:lnTo>
                  <a:lnTo>
                    <a:pt x="416179" y="821182"/>
                  </a:lnTo>
                  <a:lnTo>
                    <a:pt x="406019" y="828814"/>
                  </a:lnTo>
                  <a:lnTo>
                    <a:pt x="368808" y="781812"/>
                  </a:lnTo>
                  <a:lnTo>
                    <a:pt x="383921" y="770382"/>
                  </a:lnTo>
                  <a:lnTo>
                    <a:pt x="388747" y="767842"/>
                  </a:lnTo>
                  <a:lnTo>
                    <a:pt x="398272" y="765314"/>
                  </a:lnTo>
                  <a:lnTo>
                    <a:pt x="402971" y="766572"/>
                  </a:lnTo>
                  <a:lnTo>
                    <a:pt x="429387" y="799592"/>
                  </a:lnTo>
                  <a:lnTo>
                    <a:pt x="429387" y="758380"/>
                  </a:lnTo>
                  <a:lnTo>
                    <a:pt x="423545" y="753872"/>
                  </a:lnTo>
                  <a:lnTo>
                    <a:pt x="416433" y="751332"/>
                  </a:lnTo>
                  <a:lnTo>
                    <a:pt x="409321" y="747522"/>
                  </a:lnTo>
                  <a:lnTo>
                    <a:pt x="401828" y="747522"/>
                  </a:lnTo>
                  <a:lnTo>
                    <a:pt x="394081" y="748792"/>
                  </a:lnTo>
                  <a:lnTo>
                    <a:pt x="388264" y="750062"/>
                  </a:lnTo>
                  <a:lnTo>
                    <a:pt x="376643" y="755142"/>
                  </a:lnTo>
                  <a:lnTo>
                    <a:pt x="370840" y="760222"/>
                  </a:lnTo>
                  <a:lnTo>
                    <a:pt x="343789" y="780542"/>
                  </a:lnTo>
                  <a:lnTo>
                    <a:pt x="400685" y="852932"/>
                  </a:lnTo>
                  <a:lnTo>
                    <a:pt x="427736" y="832612"/>
                  </a:lnTo>
                  <a:lnTo>
                    <a:pt x="431711" y="828814"/>
                  </a:lnTo>
                  <a:lnTo>
                    <a:pt x="447421" y="805942"/>
                  </a:lnTo>
                  <a:lnTo>
                    <a:pt x="448437" y="798322"/>
                  </a:lnTo>
                  <a:close/>
                </a:path>
                <a:path w="1538604" h="1186180">
                  <a:moveTo>
                    <a:pt x="517271" y="755142"/>
                  </a:moveTo>
                  <a:lnTo>
                    <a:pt x="517017" y="746264"/>
                  </a:lnTo>
                  <a:lnTo>
                    <a:pt x="515493" y="742442"/>
                  </a:lnTo>
                  <a:lnTo>
                    <a:pt x="512445" y="737362"/>
                  </a:lnTo>
                  <a:lnTo>
                    <a:pt x="498475" y="748792"/>
                  </a:lnTo>
                  <a:lnTo>
                    <a:pt x="500507" y="751332"/>
                  </a:lnTo>
                  <a:lnTo>
                    <a:pt x="501142" y="753872"/>
                  </a:lnTo>
                  <a:lnTo>
                    <a:pt x="500253" y="756412"/>
                  </a:lnTo>
                  <a:lnTo>
                    <a:pt x="499491" y="760222"/>
                  </a:lnTo>
                  <a:lnTo>
                    <a:pt x="497586" y="762762"/>
                  </a:lnTo>
                  <a:lnTo>
                    <a:pt x="494411" y="765314"/>
                  </a:lnTo>
                  <a:lnTo>
                    <a:pt x="488569" y="767842"/>
                  </a:lnTo>
                  <a:lnTo>
                    <a:pt x="482854" y="769112"/>
                  </a:lnTo>
                  <a:lnTo>
                    <a:pt x="480187" y="767842"/>
                  </a:lnTo>
                  <a:lnTo>
                    <a:pt x="475107" y="765314"/>
                  </a:lnTo>
                  <a:lnTo>
                    <a:pt x="472821" y="762762"/>
                  </a:lnTo>
                  <a:lnTo>
                    <a:pt x="470789" y="760222"/>
                  </a:lnTo>
                  <a:lnTo>
                    <a:pt x="481990" y="751332"/>
                  </a:lnTo>
                  <a:lnTo>
                    <a:pt x="507619" y="731012"/>
                  </a:lnTo>
                  <a:lnTo>
                    <a:pt x="506984" y="731012"/>
                  </a:lnTo>
                  <a:lnTo>
                    <a:pt x="505968" y="728472"/>
                  </a:lnTo>
                  <a:lnTo>
                    <a:pt x="505206" y="728472"/>
                  </a:lnTo>
                  <a:lnTo>
                    <a:pt x="504164" y="727214"/>
                  </a:lnTo>
                  <a:lnTo>
                    <a:pt x="500024" y="722122"/>
                  </a:lnTo>
                  <a:lnTo>
                    <a:pt x="494614" y="718312"/>
                  </a:lnTo>
                  <a:lnTo>
                    <a:pt x="488924" y="715772"/>
                  </a:lnTo>
                  <a:lnTo>
                    <a:pt x="486664" y="714806"/>
                  </a:lnTo>
                  <a:lnTo>
                    <a:pt x="486664" y="733564"/>
                  </a:lnTo>
                  <a:lnTo>
                    <a:pt x="463804" y="751332"/>
                  </a:lnTo>
                  <a:lnTo>
                    <a:pt x="461264" y="747522"/>
                  </a:lnTo>
                  <a:lnTo>
                    <a:pt x="460248" y="743712"/>
                  </a:lnTo>
                  <a:lnTo>
                    <a:pt x="461518" y="737362"/>
                  </a:lnTo>
                  <a:lnTo>
                    <a:pt x="463550" y="733564"/>
                  </a:lnTo>
                  <a:lnTo>
                    <a:pt x="470027" y="728472"/>
                  </a:lnTo>
                  <a:lnTo>
                    <a:pt x="473456" y="727214"/>
                  </a:lnTo>
                  <a:lnTo>
                    <a:pt x="476885" y="727214"/>
                  </a:lnTo>
                  <a:lnTo>
                    <a:pt x="480441" y="728472"/>
                  </a:lnTo>
                  <a:lnTo>
                    <a:pt x="483616" y="729742"/>
                  </a:lnTo>
                  <a:lnTo>
                    <a:pt x="486664" y="733564"/>
                  </a:lnTo>
                  <a:lnTo>
                    <a:pt x="486664" y="714806"/>
                  </a:lnTo>
                  <a:lnTo>
                    <a:pt x="482981" y="713232"/>
                  </a:lnTo>
                  <a:lnTo>
                    <a:pt x="476897" y="713232"/>
                  </a:lnTo>
                  <a:lnTo>
                    <a:pt x="445262" y="741172"/>
                  </a:lnTo>
                  <a:lnTo>
                    <a:pt x="444754" y="746264"/>
                  </a:lnTo>
                  <a:lnTo>
                    <a:pt x="447040" y="757682"/>
                  </a:lnTo>
                  <a:lnTo>
                    <a:pt x="479552" y="784364"/>
                  </a:lnTo>
                  <a:lnTo>
                    <a:pt x="485267" y="783082"/>
                  </a:lnTo>
                  <a:lnTo>
                    <a:pt x="490982" y="783082"/>
                  </a:lnTo>
                  <a:lnTo>
                    <a:pt x="496697" y="779272"/>
                  </a:lnTo>
                  <a:lnTo>
                    <a:pt x="502539" y="775462"/>
                  </a:lnTo>
                  <a:lnTo>
                    <a:pt x="507365" y="771664"/>
                  </a:lnTo>
                  <a:lnTo>
                    <a:pt x="509727" y="769112"/>
                  </a:lnTo>
                  <a:lnTo>
                    <a:pt x="510921" y="767842"/>
                  </a:lnTo>
                  <a:lnTo>
                    <a:pt x="513461" y="762762"/>
                  </a:lnTo>
                  <a:lnTo>
                    <a:pt x="516001" y="758964"/>
                  </a:lnTo>
                  <a:lnTo>
                    <a:pt x="517271" y="755142"/>
                  </a:lnTo>
                  <a:close/>
                </a:path>
                <a:path w="1538604" h="1186180">
                  <a:moveTo>
                    <a:pt x="536448" y="645922"/>
                  </a:moveTo>
                  <a:lnTo>
                    <a:pt x="535813" y="643382"/>
                  </a:lnTo>
                  <a:lnTo>
                    <a:pt x="534289" y="640842"/>
                  </a:lnTo>
                  <a:lnTo>
                    <a:pt x="532638" y="639572"/>
                  </a:lnTo>
                  <a:lnTo>
                    <a:pt x="530606" y="638314"/>
                  </a:lnTo>
                  <a:lnTo>
                    <a:pt x="523367" y="638314"/>
                  </a:lnTo>
                  <a:lnTo>
                    <a:pt x="518033" y="643382"/>
                  </a:lnTo>
                  <a:lnTo>
                    <a:pt x="516636" y="644664"/>
                  </a:lnTo>
                  <a:lnTo>
                    <a:pt x="515874" y="649732"/>
                  </a:lnTo>
                  <a:lnTo>
                    <a:pt x="516509" y="652272"/>
                  </a:lnTo>
                  <a:lnTo>
                    <a:pt x="518033" y="653542"/>
                  </a:lnTo>
                  <a:lnTo>
                    <a:pt x="519684" y="656082"/>
                  </a:lnTo>
                  <a:lnTo>
                    <a:pt x="521589" y="657364"/>
                  </a:lnTo>
                  <a:lnTo>
                    <a:pt x="526415" y="657364"/>
                  </a:lnTo>
                  <a:lnTo>
                    <a:pt x="528955" y="656082"/>
                  </a:lnTo>
                  <a:lnTo>
                    <a:pt x="531622" y="654812"/>
                  </a:lnTo>
                  <a:lnTo>
                    <a:pt x="534289" y="652272"/>
                  </a:lnTo>
                  <a:lnTo>
                    <a:pt x="535686" y="649732"/>
                  </a:lnTo>
                  <a:lnTo>
                    <a:pt x="536448" y="645922"/>
                  </a:lnTo>
                  <a:close/>
                </a:path>
                <a:path w="1538604" h="1186180">
                  <a:moveTo>
                    <a:pt x="562229" y="727214"/>
                  </a:moveTo>
                  <a:lnTo>
                    <a:pt x="557352" y="720864"/>
                  </a:lnTo>
                  <a:lnTo>
                    <a:pt x="553466" y="715772"/>
                  </a:lnTo>
                  <a:lnTo>
                    <a:pt x="547370" y="720864"/>
                  </a:lnTo>
                  <a:lnTo>
                    <a:pt x="543306" y="720864"/>
                  </a:lnTo>
                  <a:lnTo>
                    <a:pt x="541528" y="719582"/>
                  </a:lnTo>
                  <a:lnTo>
                    <a:pt x="539623" y="718312"/>
                  </a:lnTo>
                  <a:lnTo>
                    <a:pt x="537464" y="715772"/>
                  </a:lnTo>
                  <a:lnTo>
                    <a:pt x="495554" y="662432"/>
                  </a:lnTo>
                  <a:lnTo>
                    <a:pt x="481330" y="672592"/>
                  </a:lnTo>
                  <a:lnTo>
                    <a:pt x="523875" y="727214"/>
                  </a:lnTo>
                  <a:lnTo>
                    <a:pt x="527304" y="731012"/>
                  </a:lnTo>
                  <a:lnTo>
                    <a:pt x="530606" y="734822"/>
                  </a:lnTo>
                  <a:lnTo>
                    <a:pt x="533781" y="736092"/>
                  </a:lnTo>
                  <a:lnTo>
                    <a:pt x="537083" y="738632"/>
                  </a:lnTo>
                  <a:lnTo>
                    <a:pt x="540639" y="738632"/>
                  </a:lnTo>
                  <a:lnTo>
                    <a:pt x="548513" y="736092"/>
                  </a:lnTo>
                  <a:lnTo>
                    <a:pt x="553085" y="733564"/>
                  </a:lnTo>
                  <a:lnTo>
                    <a:pt x="558419" y="729742"/>
                  </a:lnTo>
                  <a:lnTo>
                    <a:pt x="562229" y="727214"/>
                  </a:lnTo>
                  <a:close/>
                </a:path>
                <a:path w="1538604" h="1186180">
                  <a:moveTo>
                    <a:pt x="585343" y="708164"/>
                  </a:moveTo>
                  <a:lnTo>
                    <a:pt x="544195" y="656082"/>
                  </a:lnTo>
                  <a:lnTo>
                    <a:pt x="529844" y="667512"/>
                  </a:lnTo>
                  <a:lnTo>
                    <a:pt x="571119" y="719582"/>
                  </a:lnTo>
                  <a:lnTo>
                    <a:pt x="585343" y="708164"/>
                  </a:lnTo>
                  <a:close/>
                </a:path>
                <a:path w="1538604" h="1186180">
                  <a:moveTo>
                    <a:pt x="628777" y="673862"/>
                  </a:moveTo>
                  <a:lnTo>
                    <a:pt x="626681" y="667512"/>
                  </a:lnTo>
                  <a:lnTo>
                    <a:pt x="606679" y="606564"/>
                  </a:lnTo>
                  <a:lnTo>
                    <a:pt x="592201" y="617982"/>
                  </a:lnTo>
                  <a:lnTo>
                    <a:pt x="610235" y="667512"/>
                  </a:lnTo>
                  <a:lnTo>
                    <a:pt x="567055" y="638314"/>
                  </a:lnTo>
                  <a:lnTo>
                    <a:pt x="552196" y="649732"/>
                  </a:lnTo>
                  <a:lnTo>
                    <a:pt x="612521" y="686562"/>
                  </a:lnTo>
                  <a:lnTo>
                    <a:pt x="628777" y="673862"/>
                  </a:lnTo>
                  <a:close/>
                </a:path>
                <a:path w="1538604" h="1186180">
                  <a:moveTo>
                    <a:pt x="694690" y="615442"/>
                  </a:moveTo>
                  <a:lnTo>
                    <a:pt x="694436" y="606564"/>
                  </a:lnTo>
                  <a:lnTo>
                    <a:pt x="692912" y="602742"/>
                  </a:lnTo>
                  <a:lnTo>
                    <a:pt x="689864" y="598932"/>
                  </a:lnTo>
                  <a:lnTo>
                    <a:pt x="675894" y="609092"/>
                  </a:lnTo>
                  <a:lnTo>
                    <a:pt x="677926" y="611632"/>
                  </a:lnTo>
                  <a:lnTo>
                    <a:pt x="678561" y="615442"/>
                  </a:lnTo>
                  <a:lnTo>
                    <a:pt x="677672" y="617982"/>
                  </a:lnTo>
                  <a:lnTo>
                    <a:pt x="676910" y="620522"/>
                  </a:lnTo>
                  <a:lnTo>
                    <a:pt x="675005" y="623062"/>
                  </a:lnTo>
                  <a:lnTo>
                    <a:pt x="671830" y="625614"/>
                  </a:lnTo>
                  <a:lnTo>
                    <a:pt x="668909" y="628142"/>
                  </a:lnTo>
                  <a:lnTo>
                    <a:pt x="665988" y="629412"/>
                  </a:lnTo>
                  <a:lnTo>
                    <a:pt x="660273" y="629412"/>
                  </a:lnTo>
                  <a:lnTo>
                    <a:pt x="657479" y="628142"/>
                  </a:lnTo>
                  <a:lnTo>
                    <a:pt x="655066" y="626872"/>
                  </a:lnTo>
                  <a:lnTo>
                    <a:pt x="652526" y="625614"/>
                  </a:lnTo>
                  <a:lnTo>
                    <a:pt x="650240" y="623062"/>
                  </a:lnTo>
                  <a:lnTo>
                    <a:pt x="648208" y="621792"/>
                  </a:lnTo>
                  <a:lnTo>
                    <a:pt x="661009" y="611632"/>
                  </a:lnTo>
                  <a:lnTo>
                    <a:pt x="685038" y="592582"/>
                  </a:lnTo>
                  <a:lnTo>
                    <a:pt x="684784" y="591312"/>
                  </a:lnTo>
                  <a:lnTo>
                    <a:pt x="684403" y="591312"/>
                  </a:lnTo>
                  <a:lnTo>
                    <a:pt x="683387" y="590042"/>
                  </a:lnTo>
                  <a:lnTo>
                    <a:pt x="682879" y="588772"/>
                  </a:lnTo>
                  <a:lnTo>
                    <a:pt x="682625" y="588772"/>
                  </a:lnTo>
                  <a:lnTo>
                    <a:pt x="677443" y="583692"/>
                  </a:lnTo>
                  <a:lnTo>
                    <a:pt x="672033" y="578612"/>
                  </a:lnTo>
                  <a:lnTo>
                    <a:pt x="666343" y="576072"/>
                  </a:lnTo>
                  <a:lnTo>
                    <a:pt x="664083" y="575602"/>
                  </a:lnTo>
                  <a:lnTo>
                    <a:pt x="664083" y="593864"/>
                  </a:lnTo>
                  <a:lnTo>
                    <a:pt x="641223" y="611632"/>
                  </a:lnTo>
                  <a:lnTo>
                    <a:pt x="638683" y="607822"/>
                  </a:lnTo>
                  <a:lnTo>
                    <a:pt x="637667" y="605282"/>
                  </a:lnTo>
                  <a:lnTo>
                    <a:pt x="638937" y="597662"/>
                  </a:lnTo>
                  <a:lnTo>
                    <a:pt x="640969" y="595122"/>
                  </a:lnTo>
                  <a:lnTo>
                    <a:pt x="644271" y="592582"/>
                  </a:lnTo>
                  <a:lnTo>
                    <a:pt x="647446" y="590042"/>
                  </a:lnTo>
                  <a:lnTo>
                    <a:pt x="650875" y="588772"/>
                  </a:lnTo>
                  <a:lnTo>
                    <a:pt x="657860" y="588772"/>
                  </a:lnTo>
                  <a:lnTo>
                    <a:pt x="661035" y="591312"/>
                  </a:lnTo>
                  <a:lnTo>
                    <a:pt x="664083" y="593864"/>
                  </a:lnTo>
                  <a:lnTo>
                    <a:pt x="664083" y="575602"/>
                  </a:lnTo>
                  <a:lnTo>
                    <a:pt x="660400" y="574814"/>
                  </a:lnTo>
                  <a:lnTo>
                    <a:pt x="654316" y="574814"/>
                  </a:lnTo>
                  <a:lnTo>
                    <a:pt x="622681" y="601472"/>
                  </a:lnTo>
                  <a:lnTo>
                    <a:pt x="622173" y="607822"/>
                  </a:lnTo>
                  <a:lnTo>
                    <a:pt x="624459" y="617982"/>
                  </a:lnTo>
                  <a:lnTo>
                    <a:pt x="627253" y="624332"/>
                  </a:lnTo>
                  <a:lnTo>
                    <a:pt x="631571" y="629412"/>
                  </a:lnTo>
                  <a:lnTo>
                    <a:pt x="636143" y="635762"/>
                  </a:lnTo>
                  <a:lnTo>
                    <a:pt x="640969" y="639572"/>
                  </a:lnTo>
                  <a:lnTo>
                    <a:pt x="646176" y="642112"/>
                  </a:lnTo>
                  <a:lnTo>
                    <a:pt x="651510" y="644664"/>
                  </a:lnTo>
                  <a:lnTo>
                    <a:pt x="662686" y="644664"/>
                  </a:lnTo>
                  <a:lnTo>
                    <a:pt x="668401" y="643382"/>
                  </a:lnTo>
                  <a:lnTo>
                    <a:pt x="674116" y="640842"/>
                  </a:lnTo>
                  <a:lnTo>
                    <a:pt x="679958" y="635762"/>
                  </a:lnTo>
                  <a:lnTo>
                    <a:pt x="684784" y="631964"/>
                  </a:lnTo>
                  <a:lnTo>
                    <a:pt x="687146" y="629412"/>
                  </a:lnTo>
                  <a:lnTo>
                    <a:pt x="688340" y="628142"/>
                  </a:lnTo>
                  <a:lnTo>
                    <a:pt x="690880" y="624332"/>
                  </a:lnTo>
                  <a:lnTo>
                    <a:pt x="693420" y="619264"/>
                  </a:lnTo>
                  <a:lnTo>
                    <a:pt x="694690" y="615442"/>
                  </a:lnTo>
                  <a:close/>
                </a:path>
                <a:path w="1538604" h="1186180">
                  <a:moveTo>
                    <a:pt x="730504" y="595122"/>
                  </a:moveTo>
                  <a:lnTo>
                    <a:pt x="702945" y="559562"/>
                  </a:lnTo>
                  <a:lnTo>
                    <a:pt x="703072" y="555764"/>
                  </a:lnTo>
                  <a:lnTo>
                    <a:pt x="703199" y="554482"/>
                  </a:lnTo>
                  <a:lnTo>
                    <a:pt x="713486" y="541782"/>
                  </a:lnTo>
                  <a:lnTo>
                    <a:pt x="714883" y="540512"/>
                  </a:lnTo>
                  <a:lnTo>
                    <a:pt x="705485" y="527812"/>
                  </a:lnTo>
                  <a:lnTo>
                    <a:pt x="704342" y="529082"/>
                  </a:lnTo>
                  <a:lnTo>
                    <a:pt x="700532" y="531622"/>
                  </a:lnTo>
                  <a:lnTo>
                    <a:pt x="697865" y="535432"/>
                  </a:lnTo>
                  <a:lnTo>
                    <a:pt x="695071" y="543064"/>
                  </a:lnTo>
                  <a:lnTo>
                    <a:pt x="694944" y="546862"/>
                  </a:lnTo>
                  <a:lnTo>
                    <a:pt x="695960" y="551942"/>
                  </a:lnTo>
                  <a:lnTo>
                    <a:pt x="688594" y="543064"/>
                  </a:lnTo>
                  <a:lnTo>
                    <a:pt x="674878" y="553212"/>
                  </a:lnTo>
                  <a:lnTo>
                    <a:pt x="716153" y="605282"/>
                  </a:lnTo>
                  <a:lnTo>
                    <a:pt x="730504" y="595122"/>
                  </a:lnTo>
                  <a:close/>
                </a:path>
                <a:path w="1538604" h="1186180">
                  <a:moveTo>
                    <a:pt x="802513" y="485914"/>
                  </a:moveTo>
                  <a:lnTo>
                    <a:pt x="801751" y="474472"/>
                  </a:lnTo>
                  <a:lnTo>
                    <a:pt x="800125" y="470662"/>
                  </a:lnTo>
                  <a:lnTo>
                    <a:pt x="799592" y="469392"/>
                  </a:lnTo>
                  <a:lnTo>
                    <a:pt x="791210" y="459232"/>
                  </a:lnTo>
                  <a:lnTo>
                    <a:pt x="786638" y="455422"/>
                  </a:lnTo>
                  <a:lnTo>
                    <a:pt x="783844" y="454723"/>
                  </a:lnTo>
                  <a:lnTo>
                    <a:pt x="783844" y="483362"/>
                  </a:lnTo>
                  <a:lnTo>
                    <a:pt x="783082" y="487172"/>
                  </a:lnTo>
                  <a:lnTo>
                    <a:pt x="782447" y="490982"/>
                  </a:lnTo>
                  <a:lnTo>
                    <a:pt x="780288" y="494792"/>
                  </a:lnTo>
                  <a:lnTo>
                    <a:pt x="776732" y="497332"/>
                  </a:lnTo>
                  <a:lnTo>
                    <a:pt x="764921" y="506222"/>
                  </a:lnTo>
                  <a:lnTo>
                    <a:pt x="747395" y="483362"/>
                  </a:lnTo>
                  <a:lnTo>
                    <a:pt x="759206" y="474472"/>
                  </a:lnTo>
                  <a:lnTo>
                    <a:pt x="762635" y="471932"/>
                  </a:lnTo>
                  <a:lnTo>
                    <a:pt x="766191" y="470662"/>
                  </a:lnTo>
                  <a:lnTo>
                    <a:pt x="773557" y="470662"/>
                  </a:lnTo>
                  <a:lnTo>
                    <a:pt x="776859" y="473214"/>
                  </a:lnTo>
                  <a:lnTo>
                    <a:pt x="779907" y="477012"/>
                  </a:lnTo>
                  <a:lnTo>
                    <a:pt x="782701" y="480822"/>
                  </a:lnTo>
                  <a:lnTo>
                    <a:pt x="783844" y="483362"/>
                  </a:lnTo>
                  <a:lnTo>
                    <a:pt x="783844" y="454723"/>
                  </a:lnTo>
                  <a:lnTo>
                    <a:pt x="771398" y="451612"/>
                  </a:lnTo>
                  <a:lnTo>
                    <a:pt x="766064" y="454164"/>
                  </a:lnTo>
                  <a:lnTo>
                    <a:pt x="760857" y="455422"/>
                  </a:lnTo>
                  <a:lnTo>
                    <a:pt x="755777" y="457962"/>
                  </a:lnTo>
                  <a:lnTo>
                    <a:pt x="751078" y="461772"/>
                  </a:lnTo>
                  <a:lnTo>
                    <a:pt x="722630" y="483362"/>
                  </a:lnTo>
                  <a:lnTo>
                    <a:pt x="779526" y="555764"/>
                  </a:lnTo>
                  <a:lnTo>
                    <a:pt x="794639" y="544322"/>
                  </a:lnTo>
                  <a:lnTo>
                    <a:pt x="774446" y="518922"/>
                  </a:lnTo>
                  <a:lnTo>
                    <a:pt x="787654" y="507492"/>
                  </a:lnTo>
                  <a:lnTo>
                    <a:pt x="789254" y="506222"/>
                  </a:lnTo>
                  <a:lnTo>
                    <a:pt x="792480" y="503682"/>
                  </a:lnTo>
                  <a:lnTo>
                    <a:pt x="796163" y="499872"/>
                  </a:lnTo>
                  <a:lnTo>
                    <a:pt x="798830" y="494792"/>
                  </a:lnTo>
                  <a:lnTo>
                    <a:pt x="801370" y="490982"/>
                  </a:lnTo>
                  <a:lnTo>
                    <a:pt x="802513" y="485914"/>
                  </a:lnTo>
                  <a:close/>
                </a:path>
                <a:path w="1538604" h="1186180">
                  <a:moveTo>
                    <a:pt x="859917" y="493522"/>
                  </a:moveTo>
                  <a:lnTo>
                    <a:pt x="832485" y="457962"/>
                  </a:lnTo>
                  <a:lnTo>
                    <a:pt x="832358" y="455422"/>
                  </a:lnTo>
                  <a:lnTo>
                    <a:pt x="832739" y="452882"/>
                  </a:lnTo>
                  <a:lnTo>
                    <a:pt x="833628" y="451612"/>
                  </a:lnTo>
                  <a:lnTo>
                    <a:pt x="834009" y="450342"/>
                  </a:lnTo>
                  <a:lnTo>
                    <a:pt x="843026" y="440182"/>
                  </a:lnTo>
                  <a:lnTo>
                    <a:pt x="844296" y="438912"/>
                  </a:lnTo>
                  <a:lnTo>
                    <a:pt x="834898" y="426212"/>
                  </a:lnTo>
                  <a:lnTo>
                    <a:pt x="833882" y="427482"/>
                  </a:lnTo>
                  <a:lnTo>
                    <a:pt x="829945" y="430022"/>
                  </a:lnTo>
                  <a:lnTo>
                    <a:pt x="827278" y="433832"/>
                  </a:lnTo>
                  <a:lnTo>
                    <a:pt x="824484" y="441464"/>
                  </a:lnTo>
                  <a:lnTo>
                    <a:pt x="824357" y="445262"/>
                  </a:lnTo>
                  <a:lnTo>
                    <a:pt x="825500" y="450342"/>
                  </a:lnTo>
                  <a:lnTo>
                    <a:pt x="818007" y="441464"/>
                  </a:lnTo>
                  <a:lnTo>
                    <a:pt x="804418" y="451612"/>
                  </a:lnTo>
                  <a:lnTo>
                    <a:pt x="845693" y="503682"/>
                  </a:lnTo>
                  <a:lnTo>
                    <a:pt x="859917" y="493522"/>
                  </a:lnTo>
                  <a:close/>
                </a:path>
                <a:path w="1538604" h="1186180">
                  <a:moveTo>
                    <a:pt x="925576" y="428764"/>
                  </a:moveTo>
                  <a:lnTo>
                    <a:pt x="924687" y="423672"/>
                  </a:lnTo>
                  <a:lnTo>
                    <a:pt x="923671" y="417322"/>
                  </a:lnTo>
                  <a:lnTo>
                    <a:pt x="921004" y="412242"/>
                  </a:lnTo>
                  <a:lnTo>
                    <a:pt x="916990" y="407162"/>
                  </a:lnTo>
                  <a:lnTo>
                    <a:pt x="911987" y="400812"/>
                  </a:lnTo>
                  <a:lnTo>
                    <a:pt x="908685" y="398348"/>
                  </a:lnTo>
                  <a:lnTo>
                    <a:pt x="908685" y="432562"/>
                  </a:lnTo>
                  <a:lnTo>
                    <a:pt x="908050" y="435114"/>
                  </a:lnTo>
                  <a:lnTo>
                    <a:pt x="907415" y="438912"/>
                  </a:lnTo>
                  <a:lnTo>
                    <a:pt x="905510" y="441464"/>
                  </a:lnTo>
                  <a:lnTo>
                    <a:pt x="902335" y="443992"/>
                  </a:lnTo>
                  <a:lnTo>
                    <a:pt x="899287" y="445262"/>
                  </a:lnTo>
                  <a:lnTo>
                    <a:pt x="896366" y="446532"/>
                  </a:lnTo>
                  <a:lnTo>
                    <a:pt x="890651" y="446532"/>
                  </a:lnTo>
                  <a:lnTo>
                    <a:pt x="887857" y="445262"/>
                  </a:lnTo>
                  <a:lnTo>
                    <a:pt x="872363" y="427482"/>
                  </a:lnTo>
                  <a:lnTo>
                    <a:pt x="871220" y="424942"/>
                  </a:lnTo>
                  <a:lnTo>
                    <a:pt x="870839" y="421132"/>
                  </a:lnTo>
                  <a:lnTo>
                    <a:pt x="871474" y="418592"/>
                  </a:lnTo>
                  <a:lnTo>
                    <a:pt x="871982" y="416064"/>
                  </a:lnTo>
                  <a:lnTo>
                    <a:pt x="873887" y="413512"/>
                  </a:lnTo>
                  <a:lnTo>
                    <a:pt x="879983" y="408432"/>
                  </a:lnTo>
                  <a:lnTo>
                    <a:pt x="883031" y="407162"/>
                  </a:lnTo>
                  <a:lnTo>
                    <a:pt x="888873" y="407162"/>
                  </a:lnTo>
                  <a:lnTo>
                    <a:pt x="891667" y="408432"/>
                  </a:lnTo>
                  <a:lnTo>
                    <a:pt x="894461" y="410972"/>
                  </a:lnTo>
                  <a:lnTo>
                    <a:pt x="897128" y="412242"/>
                  </a:lnTo>
                  <a:lnTo>
                    <a:pt x="899668" y="414782"/>
                  </a:lnTo>
                  <a:lnTo>
                    <a:pt x="901954" y="417322"/>
                  </a:lnTo>
                  <a:lnTo>
                    <a:pt x="904240" y="421132"/>
                  </a:lnTo>
                  <a:lnTo>
                    <a:pt x="906018" y="423672"/>
                  </a:lnTo>
                  <a:lnTo>
                    <a:pt x="907161" y="426212"/>
                  </a:lnTo>
                  <a:lnTo>
                    <a:pt x="908431" y="430022"/>
                  </a:lnTo>
                  <a:lnTo>
                    <a:pt x="908685" y="432562"/>
                  </a:lnTo>
                  <a:lnTo>
                    <a:pt x="908685" y="398348"/>
                  </a:lnTo>
                  <a:lnTo>
                    <a:pt x="906907" y="397014"/>
                  </a:lnTo>
                  <a:lnTo>
                    <a:pt x="901573" y="394462"/>
                  </a:lnTo>
                  <a:lnTo>
                    <a:pt x="896112" y="391922"/>
                  </a:lnTo>
                  <a:lnTo>
                    <a:pt x="890524" y="390664"/>
                  </a:lnTo>
                  <a:lnTo>
                    <a:pt x="879221" y="393192"/>
                  </a:lnTo>
                  <a:lnTo>
                    <a:pt x="873633" y="395732"/>
                  </a:lnTo>
                  <a:lnTo>
                    <a:pt x="862965" y="404622"/>
                  </a:lnTo>
                  <a:lnTo>
                    <a:pt x="859155" y="408432"/>
                  </a:lnTo>
                  <a:lnTo>
                    <a:pt x="856869" y="414782"/>
                  </a:lnTo>
                  <a:lnTo>
                    <a:pt x="854456" y="419862"/>
                  </a:lnTo>
                  <a:lnTo>
                    <a:pt x="872617" y="457962"/>
                  </a:lnTo>
                  <a:lnTo>
                    <a:pt x="883285" y="463042"/>
                  </a:lnTo>
                  <a:lnTo>
                    <a:pt x="888746" y="463042"/>
                  </a:lnTo>
                  <a:lnTo>
                    <a:pt x="900176" y="460514"/>
                  </a:lnTo>
                  <a:lnTo>
                    <a:pt x="905637" y="457962"/>
                  </a:lnTo>
                  <a:lnTo>
                    <a:pt x="916305" y="450342"/>
                  </a:lnTo>
                  <a:lnTo>
                    <a:pt x="919162" y="446532"/>
                  </a:lnTo>
                  <a:lnTo>
                    <a:pt x="920115" y="445262"/>
                  </a:lnTo>
                  <a:lnTo>
                    <a:pt x="922528" y="440182"/>
                  </a:lnTo>
                  <a:lnTo>
                    <a:pt x="924814" y="435114"/>
                  </a:lnTo>
                  <a:lnTo>
                    <a:pt x="925576" y="428764"/>
                  </a:lnTo>
                  <a:close/>
                </a:path>
                <a:path w="1538604" h="1186180">
                  <a:moveTo>
                    <a:pt x="999363" y="383032"/>
                  </a:moveTo>
                  <a:lnTo>
                    <a:pt x="980389" y="358914"/>
                  </a:lnTo>
                  <a:lnTo>
                    <a:pt x="973404" y="350012"/>
                  </a:lnTo>
                  <a:lnTo>
                    <a:pt x="971169" y="347179"/>
                  </a:lnTo>
                  <a:lnTo>
                    <a:pt x="971169" y="379222"/>
                  </a:lnTo>
                  <a:lnTo>
                    <a:pt x="971042" y="383032"/>
                  </a:lnTo>
                  <a:lnTo>
                    <a:pt x="957580" y="398272"/>
                  </a:lnTo>
                  <a:lnTo>
                    <a:pt x="953516" y="397014"/>
                  </a:lnTo>
                  <a:lnTo>
                    <a:pt x="934339" y="367792"/>
                  </a:lnTo>
                  <a:lnTo>
                    <a:pt x="935990" y="363982"/>
                  </a:lnTo>
                  <a:lnTo>
                    <a:pt x="939546" y="361442"/>
                  </a:lnTo>
                  <a:lnTo>
                    <a:pt x="942467" y="358914"/>
                  </a:lnTo>
                  <a:lnTo>
                    <a:pt x="955548" y="358914"/>
                  </a:lnTo>
                  <a:lnTo>
                    <a:pt x="958596" y="361442"/>
                  </a:lnTo>
                  <a:lnTo>
                    <a:pt x="970534" y="376682"/>
                  </a:lnTo>
                  <a:lnTo>
                    <a:pt x="971169" y="379222"/>
                  </a:lnTo>
                  <a:lnTo>
                    <a:pt x="971169" y="347179"/>
                  </a:lnTo>
                  <a:lnTo>
                    <a:pt x="942467" y="310642"/>
                  </a:lnTo>
                  <a:lnTo>
                    <a:pt x="928116" y="322072"/>
                  </a:lnTo>
                  <a:lnTo>
                    <a:pt x="949579" y="350012"/>
                  </a:lnTo>
                  <a:lnTo>
                    <a:pt x="942467" y="347472"/>
                  </a:lnTo>
                  <a:lnTo>
                    <a:pt x="938657" y="348742"/>
                  </a:lnTo>
                  <a:lnTo>
                    <a:pt x="934847" y="348742"/>
                  </a:lnTo>
                  <a:lnTo>
                    <a:pt x="931037" y="351282"/>
                  </a:lnTo>
                  <a:lnTo>
                    <a:pt x="923290" y="356362"/>
                  </a:lnTo>
                  <a:lnTo>
                    <a:pt x="920242" y="361442"/>
                  </a:lnTo>
                  <a:lnTo>
                    <a:pt x="916686" y="370332"/>
                  </a:lnTo>
                  <a:lnTo>
                    <a:pt x="916305" y="375412"/>
                  </a:lnTo>
                  <a:lnTo>
                    <a:pt x="918591" y="385572"/>
                  </a:lnTo>
                  <a:lnTo>
                    <a:pt x="946277" y="413512"/>
                  </a:lnTo>
                  <a:lnTo>
                    <a:pt x="951103" y="414782"/>
                  </a:lnTo>
                  <a:lnTo>
                    <a:pt x="960501" y="413512"/>
                  </a:lnTo>
                  <a:lnTo>
                    <a:pt x="964819" y="412242"/>
                  </a:lnTo>
                  <a:lnTo>
                    <a:pt x="968756" y="408432"/>
                  </a:lnTo>
                  <a:lnTo>
                    <a:pt x="972693" y="405892"/>
                  </a:lnTo>
                  <a:lnTo>
                    <a:pt x="975487" y="402082"/>
                  </a:lnTo>
                  <a:lnTo>
                    <a:pt x="977011" y="398272"/>
                  </a:lnTo>
                  <a:lnTo>
                    <a:pt x="978662" y="395732"/>
                  </a:lnTo>
                  <a:lnTo>
                    <a:pt x="979297" y="391922"/>
                  </a:lnTo>
                  <a:lnTo>
                    <a:pt x="979170" y="386842"/>
                  </a:lnTo>
                  <a:lnTo>
                    <a:pt x="985647" y="394462"/>
                  </a:lnTo>
                  <a:lnTo>
                    <a:pt x="994791" y="386842"/>
                  </a:lnTo>
                  <a:lnTo>
                    <a:pt x="999363" y="383032"/>
                  </a:lnTo>
                  <a:close/>
                </a:path>
                <a:path w="1538604" h="1186180">
                  <a:moveTo>
                    <a:pt x="1063498" y="333514"/>
                  </a:moveTo>
                  <a:lnTo>
                    <a:pt x="1022223" y="280162"/>
                  </a:lnTo>
                  <a:lnTo>
                    <a:pt x="1007999" y="291592"/>
                  </a:lnTo>
                  <a:lnTo>
                    <a:pt x="1035558" y="327164"/>
                  </a:lnTo>
                  <a:lnTo>
                    <a:pt x="1035431" y="329692"/>
                  </a:lnTo>
                  <a:lnTo>
                    <a:pt x="1026033" y="344932"/>
                  </a:lnTo>
                  <a:lnTo>
                    <a:pt x="1024128" y="346214"/>
                  </a:lnTo>
                  <a:lnTo>
                    <a:pt x="1018921" y="346214"/>
                  </a:lnTo>
                  <a:lnTo>
                    <a:pt x="1017270" y="344932"/>
                  </a:lnTo>
                  <a:lnTo>
                    <a:pt x="1014222" y="342392"/>
                  </a:lnTo>
                  <a:lnTo>
                    <a:pt x="1012825" y="341122"/>
                  </a:lnTo>
                  <a:lnTo>
                    <a:pt x="987171" y="308114"/>
                  </a:lnTo>
                  <a:lnTo>
                    <a:pt x="972947" y="319532"/>
                  </a:lnTo>
                  <a:lnTo>
                    <a:pt x="999871" y="353822"/>
                  </a:lnTo>
                  <a:lnTo>
                    <a:pt x="1004570" y="360172"/>
                  </a:lnTo>
                  <a:lnTo>
                    <a:pt x="1009777" y="362712"/>
                  </a:lnTo>
                  <a:lnTo>
                    <a:pt x="1020699" y="365264"/>
                  </a:lnTo>
                  <a:lnTo>
                    <a:pt x="1026160" y="363982"/>
                  </a:lnTo>
                  <a:lnTo>
                    <a:pt x="1031367" y="358914"/>
                  </a:lnTo>
                  <a:lnTo>
                    <a:pt x="1035939" y="356362"/>
                  </a:lnTo>
                  <a:lnTo>
                    <a:pt x="1039114" y="352564"/>
                  </a:lnTo>
                  <a:lnTo>
                    <a:pt x="1041463" y="346214"/>
                  </a:lnTo>
                  <a:lnTo>
                    <a:pt x="1042416" y="343662"/>
                  </a:lnTo>
                  <a:lnTo>
                    <a:pt x="1043305" y="339864"/>
                  </a:lnTo>
                  <a:lnTo>
                    <a:pt x="1043305" y="336042"/>
                  </a:lnTo>
                  <a:lnTo>
                    <a:pt x="1049782" y="343662"/>
                  </a:lnTo>
                  <a:lnTo>
                    <a:pt x="1060069" y="336042"/>
                  </a:lnTo>
                  <a:lnTo>
                    <a:pt x="1063498" y="333514"/>
                  </a:lnTo>
                  <a:close/>
                </a:path>
                <a:path w="1538604" h="1186180">
                  <a:moveTo>
                    <a:pt x="1117473" y="281432"/>
                  </a:moveTo>
                  <a:lnTo>
                    <a:pt x="1116711" y="272542"/>
                  </a:lnTo>
                  <a:lnTo>
                    <a:pt x="1114806" y="267462"/>
                  </a:lnTo>
                  <a:lnTo>
                    <a:pt x="1111377" y="262382"/>
                  </a:lnTo>
                  <a:lnTo>
                    <a:pt x="1097534" y="273812"/>
                  </a:lnTo>
                  <a:lnTo>
                    <a:pt x="1099947" y="276364"/>
                  </a:lnTo>
                  <a:lnTo>
                    <a:pt x="1100963" y="280162"/>
                  </a:lnTo>
                  <a:lnTo>
                    <a:pt x="1099947" y="286512"/>
                  </a:lnTo>
                  <a:lnTo>
                    <a:pt x="1098169" y="289064"/>
                  </a:lnTo>
                  <a:lnTo>
                    <a:pt x="1094994" y="291592"/>
                  </a:lnTo>
                  <a:lnTo>
                    <a:pt x="1092200" y="294132"/>
                  </a:lnTo>
                  <a:lnTo>
                    <a:pt x="1089533" y="295414"/>
                  </a:lnTo>
                  <a:lnTo>
                    <a:pt x="1084072" y="295414"/>
                  </a:lnTo>
                  <a:lnTo>
                    <a:pt x="1076071" y="291592"/>
                  </a:lnTo>
                  <a:lnTo>
                    <a:pt x="1073404" y="289064"/>
                  </a:lnTo>
                  <a:lnTo>
                    <a:pt x="1070864" y="285242"/>
                  </a:lnTo>
                  <a:lnTo>
                    <a:pt x="1066800" y="280162"/>
                  </a:lnTo>
                  <a:lnTo>
                    <a:pt x="1064514" y="275082"/>
                  </a:lnTo>
                  <a:lnTo>
                    <a:pt x="1063752" y="267462"/>
                  </a:lnTo>
                  <a:lnTo>
                    <a:pt x="1065657" y="263664"/>
                  </a:lnTo>
                  <a:lnTo>
                    <a:pt x="1072896" y="257314"/>
                  </a:lnTo>
                  <a:lnTo>
                    <a:pt x="1075944" y="256032"/>
                  </a:lnTo>
                  <a:lnTo>
                    <a:pt x="1081913" y="257314"/>
                  </a:lnTo>
                  <a:lnTo>
                    <a:pt x="1084580" y="258572"/>
                  </a:lnTo>
                  <a:lnTo>
                    <a:pt x="1086739" y="261112"/>
                  </a:lnTo>
                  <a:lnTo>
                    <a:pt x="1092885" y="256032"/>
                  </a:lnTo>
                  <a:lnTo>
                    <a:pt x="1100582" y="249682"/>
                  </a:lnTo>
                  <a:lnTo>
                    <a:pt x="1097026" y="245872"/>
                  </a:lnTo>
                  <a:lnTo>
                    <a:pt x="1093089" y="243332"/>
                  </a:lnTo>
                  <a:lnTo>
                    <a:pt x="1084199" y="240792"/>
                  </a:lnTo>
                  <a:lnTo>
                    <a:pt x="1079627" y="240792"/>
                  </a:lnTo>
                  <a:lnTo>
                    <a:pt x="1047369" y="267462"/>
                  </a:lnTo>
                  <a:lnTo>
                    <a:pt x="1046607" y="272542"/>
                  </a:lnTo>
                  <a:lnTo>
                    <a:pt x="1048385" y="283972"/>
                  </a:lnTo>
                  <a:lnTo>
                    <a:pt x="1051306" y="290322"/>
                  </a:lnTo>
                  <a:lnTo>
                    <a:pt x="1061212" y="303022"/>
                  </a:lnTo>
                  <a:lnTo>
                    <a:pt x="1066292" y="306832"/>
                  </a:lnTo>
                  <a:lnTo>
                    <a:pt x="1077214" y="311912"/>
                  </a:lnTo>
                  <a:lnTo>
                    <a:pt x="1082675" y="311912"/>
                  </a:lnTo>
                  <a:lnTo>
                    <a:pt x="1114171" y="290322"/>
                  </a:lnTo>
                  <a:lnTo>
                    <a:pt x="1116457" y="286512"/>
                  </a:lnTo>
                  <a:lnTo>
                    <a:pt x="1117473" y="281432"/>
                  </a:lnTo>
                  <a:close/>
                </a:path>
                <a:path w="1538604" h="1186180">
                  <a:moveTo>
                    <a:pt x="1167384" y="252222"/>
                  </a:moveTo>
                  <a:lnTo>
                    <a:pt x="1163485" y="247142"/>
                  </a:lnTo>
                  <a:lnTo>
                    <a:pt x="1158621" y="240792"/>
                  </a:lnTo>
                  <a:lnTo>
                    <a:pt x="1153668" y="244614"/>
                  </a:lnTo>
                  <a:lnTo>
                    <a:pt x="1150874" y="247142"/>
                  </a:lnTo>
                  <a:lnTo>
                    <a:pt x="1146810" y="247142"/>
                  </a:lnTo>
                  <a:lnTo>
                    <a:pt x="1145032" y="245872"/>
                  </a:lnTo>
                  <a:lnTo>
                    <a:pt x="1143000" y="244614"/>
                  </a:lnTo>
                  <a:lnTo>
                    <a:pt x="1140841" y="242062"/>
                  </a:lnTo>
                  <a:lnTo>
                    <a:pt x="1132014" y="230632"/>
                  </a:lnTo>
                  <a:lnTo>
                    <a:pt x="1123188" y="219214"/>
                  </a:lnTo>
                  <a:lnTo>
                    <a:pt x="1134745" y="210312"/>
                  </a:lnTo>
                  <a:lnTo>
                    <a:pt x="1132814" y="207772"/>
                  </a:lnTo>
                  <a:lnTo>
                    <a:pt x="1126109" y="198882"/>
                  </a:lnTo>
                  <a:lnTo>
                    <a:pt x="1114552" y="207772"/>
                  </a:lnTo>
                  <a:lnTo>
                    <a:pt x="1104900" y="196342"/>
                  </a:lnTo>
                  <a:lnTo>
                    <a:pt x="1090676" y="206514"/>
                  </a:lnTo>
                  <a:lnTo>
                    <a:pt x="1100328" y="219214"/>
                  </a:lnTo>
                  <a:lnTo>
                    <a:pt x="1091565" y="225564"/>
                  </a:lnTo>
                  <a:lnTo>
                    <a:pt x="1100201" y="236982"/>
                  </a:lnTo>
                  <a:lnTo>
                    <a:pt x="1108964" y="230632"/>
                  </a:lnTo>
                  <a:lnTo>
                    <a:pt x="1127252" y="253492"/>
                  </a:lnTo>
                  <a:lnTo>
                    <a:pt x="1130554" y="257314"/>
                  </a:lnTo>
                  <a:lnTo>
                    <a:pt x="1133983" y="261112"/>
                  </a:lnTo>
                  <a:lnTo>
                    <a:pt x="1137158" y="262382"/>
                  </a:lnTo>
                  <a:lnTo>
                    <a:pt x="1140460" y="264922"/>
                  </a:lnTo>
                  <a:lnTo>
                    <a:pt x="1144016" y="264922"/>
                  </a:lnTo>
                  <a:lnTo>
                    <a:pt x="1151890" y="262382"/>
                  </a:lnTo>
                  <a:lnTo>
                    <a:pt x="1156462" y="259842"/>
                  </a:lnTo>
                  <a:lnTo>
                    <a:pt x="1161796" y="256032"/>
                  </a:lnTo>
                  <a:lnTo>
                    <a:pt x="1167384" y="252222"/>
                  </a:lnTo>
                  <a:close/>
                </a:path>
                <a:path w="1538604" h="1186180">
                  <a:moveTo>
                    <a:pt x="1538097" y="4953"/>
                  </a:moveTo>
                  <a:lnTo>
                    <a:pt x="1534287" y="0"/>
                  </a:lnTo>
                  <a:lnTo>
                    <a:pt x="58420" y="1136802"/>
                  </a:lnTo>
                  <a:lnTo>
                    <a:pt x="37084" y="1109091"/>
                  </a:lnTo>
                  <a:lnTo>
                    <a:pt x="0" y="1185799"/>
                  </a:lnTo>
                  <a:lnTo>
                    <a:pt x="83566" y="1169416"/>
                  </a:lnTo>
                  <a:lnTo>
                    <a:pt x="68199" y="1149477"/>
                  </a:lnTo>
                  <a:lnTo>
                    <a:pt x="62230" y="1141742"/>
                  </a:lnTo>
                  <a:lnTo>
                    <a:pt x="1538097" y="4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00260" y="2604541"/>
              <a:ext cx="1322831" cy="61109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21977" y="2696463"/>
              <a:ext cx="1301958" cy="61353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972554" y="3369386"/>
            <a:ext cx="706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D99593"/>
                </a:solidFill>
                <a:latin typeface="Tahoma"/>
                <a:cs typeface="Tahoma"/>
              </a:rPr>
              <a:t>Customer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19382" y="3383026"/>
            <a:ext cx="391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90" b="1">
                <a:solidFill>
                  <a:srgbClr val="D99593"/>
                </a:solidFill>
                <a:latin typeface="Tahoma"/>
                <a:cs typeface="Tahoma"/>
              </a:rPr>
              <a:t>Ar</a:t>
            </a:r>
            <a:r>
              <a:rPr dirty="0" sz="1200" spc="-60" b="1">
                <a:solidFill>
                  <a:srgbClr val="D99593"/>
                </a:solidFill>
                <a:latin typeface="Tahoma"/>
                <a:cs typeface="Tahoma"/>
              </a:rPr>
              <a:t>t</a:t>
            </a:r>
            <a:r>
              <a:rPr dirty="0" sz="1200" spc="-25" b="1">
                <a:solidFill>
                  <a:srgbClr val="D99593"/>
                </a:solidFill>
                <a:latin typeface="Tahoma"/>
                <a:cs typeface="Tahoma"/>
              </a:rPr>
              <a:t>is</a:t>
            </a:r>
            <a:r>
              <a:rPr dirty="0" sz="1200" spc="-75" b="1">
                <a:solidFill>
                  <a:srgbClr val="D99593"/>
                </a:solidFill>
                <a:latin typeface="Tahoma"/>
                <a:cs typeface="Tahoma"/>
              </a:rPr>
              <a:t>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49969" y="2899409"/>
            <a:ext cx="1505585" cy="52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100"/>
              </a:spcBef>
            </a:pPr>
            <a:r>
              <a:rPr dirty="0" sz="1200" spc="-65" b="1">
                <a:solidFill>
                  <a:srgbClr val="D99593"/>
                </a:solidFill>
                <a:latin typeface="Tahoma"/>
                <a:cs typeface="Tahoma"/>
              </a:rPr>
              <a:t>Platform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r>
              <a:rPr dirty="0" sz="1100" spc="-105" b="1">
                <a:latin typeface="Tahoma"/>
                <a:cs typeface="Tahoma"/>
              </a:rPr>
              <a:t>R</a:t>
            </a:r>
            <a:r>
              <a:rPr dirty="0" sz="1100" spc="-55" b="1">
                <a:latin typeface="Tahoma"/>
                <a:cs typeface="Tahoma"/>
              </a:rPr>
              <a:t>eq</a:t>
            </a:r>
            <a:r>
              <a:rPr dirty="0" sz="1100" spc="-55" b="1">
                <a:latin typeface="Tahoma"/>
                <a:cs typeface="Tahoma"/>
              </a:rPr>
              <a:t>u</a:t>
            </a:r>
            <a:r>
              <a:rPr dirty="0" sz="1100" spc="-25" b="1">
                <a:latin typeface="Tahoma"/>
                <a:cs typeface="Tahoma"/>
              </a:rPr>
              <a:t>e</a:t>
            </a:r>
            <a:r>
              <a:rPr dirty="0" sz="1100" spc="-30" b="1">
                <a:latin typeface="Tahoma"/>
                <a:cs typeface="Tahoma"/>
              </a:rPr>
              <a:t>s</a:t>
            </a:r>
            <a:r>
              <a:rPr dirty="0" sz="1100" spc="-65" b="1">
                <a:latin typeface="Tahoma"/>
                <a:cs typeface="Tahoma"/>
              </a:rPr>
              <a:t>t</a:t>
            </a:r>
            <a:r>
              <a:rPr dirty="0" sz="1100" spc="-105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Cu</a:t>
            </a:r>
            <a:r>
              <a:rPr dirty="0" sz="1100" spc="-10" b="1">
                <a:latin typeface="Tahoma"/>
                <a:cs typeface="Tahoma"/>
              </a:rPr>
              <a:t>s</a:t>
            </a:r>
            <a:r>
              <a:rPr dirty="0" sz="1100" spc="-65" b="1">
                <a:latin typeface="Tahoma"/>
                <a:cs typeface="Tahoma"/>
              </a:rPr>
              <a:t>t</a:t>
            </a:r>
            <a:r>
              <a:rPr dirty="0" sz="1100" spc="-50" b="1">
                <a:latin typeface="Tahoma"/>
                <a:cs typeface="Tahoma"/>
              </a:rPr>
              <a:t>o</a:t>
            </a:r>
            <a:r>
              <a:rPr dirty="0" sz="1100" spc="-85" b="1">
                <a:latin typeface="Tahoma"/>
                <a:cs typeface="Tahoma"/>
              </a:rPr>
              <a:t>m</a:t>
            </a:r>
            <a:r>
              <a:rPr dirty="0" sz="1100" spc="-40" b="1">
                <a:latin typeface="Tahoma"/>
                <a:cs typeface="Tahoma"/>
              </a:rPr>
              <a:t>i</a:t>
            </a:r>
            <a:r>
              <a:rPr dirty="0" sz="1100" spc="-60" b="1">
                <a:latin typeface="Tahoma"/>
                <a:cs typeface="Tahoma"/>
              </a:rPr>
              <a:t>za</a:t>
            </a:r>
            <a:r>
              <a:rPr dirty="0" sz="1100" spc="-75" b="1">
                <a:latin typeface="Tahoma"/>
                <a:cs typeface="Tahoma"/>
              </a:rPr>
              <a:t>t</a:t>
            </a:r>
            <a:r>
              <a:rPr dirty="0" sz="1100" spc="-40" b="1">
                <a:latin typeface="Tahoma"/>
                <a:cs typeface="Tahoma"/>
              </a:rPr>
              <a:t>i</a:t>
            </a:r>
            <a:r>
              <a:rPr dirty="0" sz="1100" spc="-60" b="1">
                <a:latin typeface="Tahoma"/>
                <a:cs typeface="Tahoma"/>
              </a:rPr>
              <a:t>o</a:t>
            </a:r>
            <a:r>
              <a:rPr dirty="0" sz="1100" spc="-65" b="1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278" y="1271308"/>
            <a:ext cx="5559425" cy="51046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3434" y="115089"/>
            <a:ext cx="1365283" cy="6808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7799" y="1465554"/>
            <a:ext cx="4605655" cy="4839335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565"/>
              </a:spcBef>
            </a:pPr>
            <a:r>
              <a:rPr dirty="0" u="sng" sz="17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</a:t>
            </a:r>
            <a:r>
              <a:rPr dirty="0" u="sng" sz="1700" spc="-14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dirty="0" u="sng" sz="1700" spc="-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dirty="0" u="sng" sz="17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dirty="0" u="sng" sz="17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sng" sz="17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dirty="0" u="sng" sz="17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dirty="0" u="sng" sz="17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7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</a:t>
            </a:r>
            <a:r>
              <a:rPr dirty="0" u="sng" sz="17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</a:t>
            </a:r>
            <a:r>
              <a:rPr dirty="0" u="sng" sz="1700" spc="-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elo</a:t>
            </a:r>
            <a:r>
              <a:rPr dirty="0" u="sng" sz="17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</a:t>
            </a:r>
            <a:r>
              <a:rPr dirty="0" u="sng" sz="17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men</a:t>
            </a:r>
            <a:r>
              <a:rPr dirty="0" u="sng" sz="1700" spc="-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sz="1700" spc="-145" b="1">
                <a:latin typeface="Tahoma"/>
                <a:cs typeface="Tahoma"/>
              </a:rPr>
              <a:t> </a:t>
            </a:r>
            <a:r>
              <a:rPr dirty="0" sz="1700" spc="-105" b="1">
                <a:latin typeface="Tahoma"/>
                <a:cs typeface="Tahoma"/>
              </a:rPr>
              <a:t>:</a:t>
            </a:r>
            <a:r>
              <a:rPr dirty="0" sz="1700" spc="-155" b="1">
                <a:latin typeface="Tahoma"/>
                <a:cs typeface="Tahoma"/>
              </a:rPr>
              <a:t>-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dirty="0" sz="1700" spc="15">
                <a:latin typeface="Tahoma"/>
                <a:cs typeface="Tahoma"/>
              </a:rPr>
              <a:t>React</a:t>
            </a:r>
            <a:r>
              <a:rPr dirty="0" sz="1700" spc="-204">
                <a:latin typeface="Tahoma"/>
                <a:cs typeface="Tahoma"/>
              </a:rPr>
              <a:t> </a:t>
            </a:r>
            <a:r>
              <a:rPr dirty="0" sz="1700" spc="-60">
                <a:latin typeface="Tahoma"/>
                <a:cs typeface="Tahoma"/>
              </a:rPr>
              <a:t>J</a:t>
            </a:r>
            <a:r>
              <a:rPr dirty="0" sz="1700" spc="-105">
                <a:latin typeface="Tahoma"/>
                <a:cs typeface="Tahoma"/>
              </a:rPr>
              <a:t>S</a:t>
            </a:r>
            <a:r>
              <a:rPr dirty="0" sz="1700" spc="-30">
                <a:latin typeface="Tahoma"/>
                <a:cs typeface="Tahoma"/>
              </a:rPr>
              <a:t>,</a:t>
            </a:r>
            <a:r>
              <a:rPr dirty="0" sz="1700" spc="-180">
                <a:latin typeface="Tahoma"/>
                <a:cs typeface="Tahoma"/>
              </a:rPr>
              <a:t> </a:t>
            </a:r>
            <a:r>
              <a:rPr dirty="0" sz="1700" spc="-315">
                <a:latin typeface="Tahoma"/>
                <a:cs typeface="Tahoma"/>
              </a:rPr>
              <a:t>T</a:t>
            </a:r>
            <a:r>
              <a:rPr dirty="0" sz="1700" spc="5">
                <a:latin typeface="Tahoma"/>
                <a:cs typeface="Tahoma"/>
              </a:rPr>
              <a:t>ail</a:t>
            </a:r>
            <a:r>
              <a:rPr dirty="0" sz="1700" spc="10">
                <a:latin typeface="Tahoma"/>
                <a:cs typeface="Tahoma"/>
              </a:rPr>
              <a:t>w</a:t>
            </a:r>
            <a:r>
              <a:rPr dirty="0" sz="1700" spc="5">
                <a:latin typeface="Tahoma"/>
                <a:cs typeface="Tahoma"/>
              </a:rPr>
              <a:t>ind</a:t>
            </a:r>
            <a:r>
              <a:rPr dirty="0" sz="1700" spc="-204">
                <a:latin typeface="Tahoma"/>
                <a:cs typeface="Tahoma"/>
              </a:rPr>
              <a:t> </a:t>
            </a:r>
            <a:r>
              <a:rPr dirty="0" sz="1700" spc="85">
                <a:latin typeface="Tahoma"/>
                <a:cs typeface="Tahoma"/>
              </a:rPr>
              <a:t>C</a:t>
            </a:r>
            <a:r>
              <a:rPr dirty="0" sz="1700" spc="70">
                <a:latin typeface="Tahoma"/>
                <a:cs typeface="Tahoma"/>
              </a:rPr>
              <a:t>S</a:t>
            </a:r>
            <a:r>
              <a:rPr dirty="0" sz="1700" spc="-15">
                <a:latin typeface="Tahoma"/>
                <a:cs typeface="Tahoma"/>
              </a:rPr>
              <a:t>S</a:t>
            </a:r>
            <a:r>
              <a:rPr dirty="0" sz="1700" spc="-30">
                <a:latin typeface="Tahoma"/>
                <a:cs typeface="Tahoma"/>
              </a:rPr>
              <a:t>,</a:t>
            </a:r>
            <a:r>
              <a:rPr dirty="0" sz="1700" spc="-180">
                <a:latin typeface="Tahoma"/>
                <a:cs typeface="Tahoma"/>
              </a:rPr>
              <a:t> </a:t>
            </a:r>
            <a:r>
              <a:rPr dirty="0" sz="1700" spc="30">
                <a:latin typeface="Tahoma"/>
                <a:cs typeface="Tahoma"/>
              </a:rPr>
              <a:t>N</a:t>
            </a:r>
            <a:r>
              <a:rPr dirty="0" sz="1700">
                <a:latin typeface="Tahoma"/>
                <a:cs typeface="Tahoma"/>
              </a:rPr>
              <a:t>e</a:t>
            </a:r>
            <a:r>
              <a:rPr dirty="0" sz="1700" spc="-70">
                <a:latin typeface="Tahoma"/>
                <a:cs typeface="Tahoma"/>
              </a:rPr>
              <a:t>x</a:t>
            </a:r>
            <a:r>
              <a:rPr dirty="0" sz="1700" spc="-45">
                <a:latin typeface="Tahoma"/>
                <a:cs typeface="Tahoma"/>
              </a:rPr>
              <a:t>t</a:t>
            </a:r>
            <a:r>
              <a:rPr dirty="0" sz="1700" spc="-195">
                <a:latin typeface="Tahoma"/>
                <a:cs typeface="Tahoma"/>
              </a:rPr>
              <a:t> </a:t>
            </a:r>
            <a:r>
              <a:rPr dirty="0" sz="1700" spc="-70">
                <a:latin typeface="Tahoma"/>
                <a:cs typeface="Tahoma"/>
              </a:rPr>
              <a:t>JS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600"/>
              </a:spcBef>
            </a:pPr>
            <a:r>
              <a:rPr dirty="0" u="sng" sz="17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</a:t>
            </a:r>
            <a:r>
              <a:rPr dirty="0" u="sng" sz="17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700" spc="-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dirty="0" u="sng" sz="1700" spc="-8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dirty="0" u="sng" sz="17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dirty="0" u="sng" sz="17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dirty="0" u="sng" sz="1700" spc="-1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700" spc="-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dirty="0" u="sng" sz="17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sng" sz="1700" spc="-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</a:t>
            </a:r>
            <a:r>
              <a:rPr dirty="0" u="sng" sz="1700" spc="-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el</a:t>
            </a:r>
            <a:r>
              <a:rPr dirty="0" u="sng" sz="17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dirty="0" u="sng" sz="17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</a:t>
            </a:r>
            <a:r>
              <a:rPr dirty="0" u="sng" sz="17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dirty="0" u="sng" sz="17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dirty="0" u="sng" sz="17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sz="1700" spc="-160" b="1">
                <a:latin typeface="Tahoma"/>
                <a:cs typeface="Tahoma"/>
              </a:rPr>
              <a:t> </a:t>
            </a:r>
            <a:r>
              <a:rPr dirty="0" sz="1700" spc="-110" b="1">
                <a:latin typeface="Tahoma"/>
                <a:cs typeface="Tahoma"/>
              </a:rPr>
              <a:t>:</a:t>
            </a:r>
            <a:r>
              <a:rPr dirty="0" sz="1700" spc="-155" b="1">
                <a:latin typeface="Tahoma"/>
                <a:cs typeface="Tahoma"/>
              </a:rPr>
              <a:t>-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700" spc="40">
                <a:latin typeface="Tahoma"/>
                <a:cs typeface="Tahoma"/>
              </a:rPr>
              <a:t>N</a:t>
            </a:r>
            <a:r>
              <a:rPr dirty="0" sz="1700" spc="25">
                <a:latin typeface="Tahoma"/>
                <a:cs typeface="Tahoma"/>
              </a:rPr>
              <a:t>o</a:t>
            </a:r>
            <a:r>
              <a:rPr dirty="0" sz="1700" spc="5">
                <a:latin typeface="Tahoma"/>
                <a:cs typeface="Tahoma"/>
              </a:rPr>
              <a:t>d</a:t>
            </a:r>
            <a:r>
              <a:rPr dirty="0" sz="1700" spc="-40">
                <a:latin typeface="Tahoma"/>
                <a:cs typeface="Tahoma"/>
              </a:rPr>
              <a:t>e</a:t>
            </a:r>
            <a:r>
              <a:rPr dirty="0" sz="1700" spc="-50">
                <a:latin typeface="Tahoma"/>
                <a:cs typeface="Tahoma"/>
              </a:rPr>
              <a:t>.j</a:t>
            </a:r>
            <a:r>
              <a:rPr dirty="0" sz="1700" spc="40">
                <a:latin typeface="Tahoma"/>
                <a:cs typeface="Tahoma"/>
              </a:rPr>
              <a:t>s</a:t>
            </a:r>
            <a:r>
              <a:rPr dirty="0" sz="1700" spc="-30">
                <a:latin typeface="Tahoma"/>
                <a:cs typeface="Tahoma"/>
              </a:rPr>
              <a:t>,</a:t>
            </a:r>
            <a:r>
              <a:rPr dirty="0" sz="1700" spc="-204">
                <a:latin typeface="Tahoma"/>
                <a:cs typeface="Tahoma"/>
              </a:rPr>
              <a:t> </a:t>
            </a:r>
            <a:r>
              <a:rPr dirty="0" sz="1700" spc="-35">
                <a:latin typeface="Tahoma"/>
                <a:cs typeface="Tahoma"/>
              </a:rPr>
              <a:t>Ex</a:t>
            </a:r>
            <a:r>
              <a:rPr dirty="0" sz="1700" spc="-30">
                <a:latin typeface="Tahoma"/>
                <a:cs typeface="Tahoma"/>
              </a:rPr>
              <a:t>p</a:t>
            </a:r>
            <a:r>
              <a:rPr dirty="0" sz="1700" spc="-75">
                <a:latin typeface="Tahoma"/>
                <a:cs typeface="Tahoma"/>
              </a:rPr>
              <a:t>r</a:t>
            </a:r>
            <a:r>
              <a:rPr dirty="0" sz="1700" spc="45">
                <a:latin typeface="Tahoma"/>
                <a:cs typeface="Tahoma"/>
              </a:rPr>
              <a:t>es</a:t>
            </a:r>
            <a:r>
              <a:rPr dirty="0" sz="1700" spc="15">
                <a:latin typeface="Tahoma"/>
                <a:cs typeface="Tahoma"/>
              </a:rPr>
              <a:t>s</a:t>
            </a:r>
            <a:r>
              <a:rPr dirty="0" sz="1700" spc="-50">
                <a:latin typeface="Tahoma"/>
                <a:cs typeface="Tahoma"/>
              </a:rPr>
              <a:t>.j</a:t>
            </a:r>
            <a:r>
              <a:rPr dirty="0" sz="1700" spc="40">
                <a:latin typeface="Tahoma"/>
                <a:cs typeface="Tahoma"/>
              </a:rPr>
              <a:t>s</a:t>
            </a:r>
            <a:r>
              <a:rPr dirty="0" sz="1700" spc="-30">
                <a:latin typeface="Tahoma"/>
                <a:cs typeface="Tahoma"/>
              </a:rPr>
              <a:t>,</a:t>
            </a:r>
            <a:r>
              <a:rPr dirty="0" sz="1700" spc="-195">
                <a:latin typeface="Tahoma"/>
                <a:cs typeface="Tahoma"/>
              </a:rPr>
              <a:t> </a:t>
            </a:r>
            <a:r>
              <a:rPr dirty="0" sz="1700" spc="10">
                <a:latin typeface="Tahoma"/>
                <a:cs typeface="Tahoma"/>
              </a:rPr>
              <a:t>Mo</a:t>
            </a:r>
            <a:r>
              <a:rPr dirty="0" sz="1700">
                <a:latin typeface="Tahoma"/>
                <a:cs typeface="Tahoma"/>
              </a:rPr>
              <a:t>n</a:t>
            </a:r>
            <a:r>
              <a:rPr dirty="0" sz="1700" spc="-125">
                <a:latin typeface="Tahoma"/>
                <a:cs typeface="Tahoma"/>
              </a:rPr>
              <a:t>g</a:t>
            </a:r>
            <a:r>
              <a:rPr dirty="0" sz="1700" spc="10">
                <a:latin typeface="Tahoma"/>
                <a:cs typeface="Tahoma"/>
              </a:rPr>
              <a:t>o</a:t>
            </a:r>
            <a:r>
              <a:rPr dirty="0" sz="1700" spc="5">
                <a:latin typeface="Tahoma"/>
                <a:cs typeface="Tahoma"/>
              </a:rPr>
              <a:t>D</a:t>
            </a:r>
            <a:r>
              <a:rPr dirty="0" sz="1700" spc="-25">
                <a:latin typeface="Tahoma"/>
                <a:cs typeface="Tahoma"/>
              </a:rPr>
              <a:t>B</a:t>
            </a:r>
            <a:r>
              <a:rPr dirty="0" sz="1700" spc="-30">
                <a:latin typeface="Tahoma"/>
                <a:cs typeface="Tahoma"/>
              </a:rPr>
              <a:t>,</a:t>
            </a:r>
            <a:r>
              <a:rPr dirty="0" sz="1700" spc="-215">
                <a:latin typeface="Tahoma"/>
                <a:cs typeface="Tahoma"/>
              </a:rPr>
              <a:t> </a:t>
            </a:r>
            <a:r>
              <a:rPr dirty="0" sz="1700" spc="-5">
                <a:latin typeface="Tahoma"/>
                <a:cs typeface="Tahoma"/>
              </a:rPr>
              <a:t>RE</a:t>
            </a:r>
            <a:r>
              <a:rPr dirty="0" sz="1700" spc="-50">
                <a:latin typeface="Tahoma"/>
                <a:cs typeface="Tahoma"/>
              </a:rPr>
              <a:t>S</a:t>
            </a:r>
            <a:r>
              <a:rPr dirty="0" sz="1700" spc="-180">
                <a:latin typeface="Tahoma"/>
                <a:cs typeface="Tahoma"/>
              </a:rPr>
              <a:t>T</a:t>
            </a:r>
            <a:r>
              <a:rPr dirty="0" sz="1700" spc="-185">
                <a:latin typeface="Tahoma"/>
                <a:cs typeface="Tahoma"/>
              </a:rPr>
              <a:t> </a:t>
            </a:r>
            <a:r>
              <a:rPr dirty="0" sz="1700" spc="-20">
                <a:latin typeface="Tahoma"/>
                <a:cs typeface="Tahoma"/>
              </a:rPr>
              <a:t>A</a:t>
            </a:r>
            <a:r>
              <a:rPr dirty="0" sz="1700" spc="-80">
                <a:latin typeface="Tahoma"/>
                <a:cs typeface="Tahoma"/>
              </a:rPr>
              <a:t>PI</a:t>
            </a:r>
            <a:endParaRPr sz="17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dirty="0" u="sng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3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dirty="0" u="sng" sz="16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1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&amp;</a:t>
            </a:r>
            <a:r>
              <a:rPr dirty="0" u="sng" sz="16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dirty="0" u="sng" sz="1600" spc="-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sng" sz="1600" spc="-8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9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na</a:t>
            </a:r>
            <a:r>
              <a:rPr dirty="0" u="sng" sz="1600" spc="-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y</a:t>
            </a:r>
            <a:r>
              <a:rPr dirty="0" u="sng" sz="1600" spc="-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dirty="0" u="sng" sz="1600" spc="-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dirty="0" u="sng" sz="1600" spc="-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50" b="1">
                <a:latin typeface="Tahoma"/>
                <a:cs typeface="Tahoma"/>
              </a:rPr>
              <a:t>-</a:t>
            </a:r>
            <a:endParaRPr sz="1600">
              <a:latin typeface="Tahoma"/>
              <a:cs typeface="Tahoma"/>
            </a:endParaRPr>
          </a:p>
          <a:p>
            <a:pPr marL="91440" marR="42227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dirty="0" sz="1600" spc="-114" b="1">
                <a:latin typeface="Tahoma"/>
                <a:cs typeface="Tahoma"/>
              </a:rPr>
              <a:t>A</a:t>
            </a:r>
            <a:r>
              <a:rPr dirty="0" sz="1600" spc="-65" b="1">
                <a:latin typeface="Tahoma"/>
                <a:cs typeface="Tahoma"/>
              </a:rPr>
              <a:t>pach</a:t>
            </a:r>
            <a:r>
              <a:rPr dirty="0" sz="1600" spc="-60" b="1">
                <a:latin typeface="Tahoma"/>
                <a:cs typeface="Tahoma"/>
              </a:rPr>
              <a:t>e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Had</a:t>
            </a:r>
            <a:r>
              <a:rPr dirty="0" sz="1600" spc="-80" b="1">
                <a:latin typeface="Tahoma"/>
                <a:cs typeface="Tahoma"/>
              </a:rPr>
              <a:t>o</a:t>
            </a:r>
            <a:r>
              <a:rPr dirty="0" sz="1600" spc="-80" b="1">
                <a:latin typeface="Tahoma"/>
                <a:cs typeface="Tahoma"/>
              </a:rPr>
              <a:t>o</a:t>
            </a:r>
            <a:r>
              <a:rPr dirty="0" sz="1600" spc="-75" b="1">
                <a:latin typeface="Tahoma"/>
                <a:cs typeface="Tahoma"/>
              </a:rPr>
              <a:t>p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55">
                <a:latin typeface="Tahoma"/>
                <a:cs typeface="Tahoma"/>
              </a:rPr>
              <a:t>y</a:t>
            </a:r>
            <a:r>
              <a:rPr dirty="0" sz="1600" spc="-75">
                <a:latin typeface="Tahoma"/>
                <a:cs typeface="Tahoma"/>
              </a:rPr>
              <a:t>z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u</a:t>
            </a:r>
            <a:r>
              <a:rPr dirty="0" sz="1600" spc="5">
                <a:latin typeface="Tahoma"/>
                <a:cs typeface="Tahoma"/>
              </a:rPr>
              <a:t>ser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da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20">
                <a:latin typeface="Tahoma"/>
                <a:cs typeface="Tahoma"/>
              </a:rPr>
              <a:t>a</a:t>
            </a:r>
            <a:r>
              <a:rPr dirty="0" sz="1600" spc="-10">
                <a:latin typeface="Tahoma"/>
                <a:cs typeface="Tahoma"/>
              </a:rPr>
              <a:t>,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85">
                <a:latin typeface="Tahoma"/>
                <a:cs typeface="Tahoma"/>
              </a:rPr>
              <a:t>r</a:t>
            </a:r>
            <a:r>
              <a:rPr dirty="0" sz="1600" spc="50">
                <a:latin typeface="Tahoma"/>
                <a:cs typeface="Tahoma"/>
              </a:rPr>
              <a:t>a</a:t>
            </a:r>
            <a:r>
              <a:rPr dirty="0" sz="1600" spc="50">
                <a:latin typeface="Tahoma"/>
                <a:cs typeface="Tahoma"/>
              </a:rPr>
              <a:t>c</a:t>
            </a:r>
            <a:r>
              <a:rPr dirty="0" sz="1600" spc="-15">
                <a:latin typeface="Tahoma"/>
                <a:cs typeface="Tahoma"/>
              </a:rPr>
              <a:t>k  </a:t>
            </a:r>
            <a:r>
              <a:rPr dirty="0" sz="1600" spc="30">
                <a:latin typeface="Tahoma"/>
                <a:cs typeface="Tahoma"/>
              </a:rPr>
              <a:t>s</a:t>
            </a:r>
            <a:r>
              <a:rPr dirty="0" sz="1600" spc="40">
                <a:latin typeface="Tahoma"/>
                <a:cs typeface="Tahoma"/>
              </a:rPr>
              <a:t>a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30">
                <a:latin typeface="Tahoma"/>
                <a:cs typeface="Tahoma"/>
              </a:rPr>
              <a:t>es</a:t>
            </a:r>
            <a:r>
              <a:rPr dirty="0" sz="1600" spc="-20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65">
                <a:latin typeface="Tahoma"/>
                <a:cs typeface="Tahoma"/>
              </a:rPr>
              <a:t>r</a:t>
            </a:r>
            <a:r>
              <a:rPr dirty="0" sz="1600" spc="10">
                <a:latin typeface="Tahoma"/>
                <a:cs typeface="Tahoma"/>
              </a:rPr>
              <a:t>ends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25">
                <a:latin typeface="Tahoma"/>
                <a:cs typeface="Tahoma"/>
              </a:rPr>
              <a:t>t</a:t>
            </a:r>
            <a:r>
              <a:rPr dirty="0" sz="1600" spc="45">
                <a:latin typeface="Tahoma"/>
                <a:cs typeface="Tahoma"/>
              </a:rPr>
              <a:t>c</a:t>
            </a:r>
            <a:r>
              <a:rPr dirty="0" sz="1600" spc="-30">
                <a:latin typeface="Tahoma"/>
                <a:cs typeface="Tahoma"/>
              </a:rPr>
              <a:t>.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f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45">
                <a:latin typeface="Tahoma"/>
                <a:cs typeface="Tahoma"/>
              </a:rPr>
              <a:t>r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pe</a:t>
            </a:r>
            <a:r>
              <a:rPr dirty="0" sz="1600" spc="-25">
                <a:latin typeface="Tahoma"/>
                <a:cs typeface="Tahoma"/>
              </a:rPr>
              <a:t>r</a:t>
            </a:r>
            <a:r>
              <a:rPr dirty="0" sz="1600" spc="20">
                <a:latin typeface="Tahoma"/>
                <a:cs typeface="Tahoma"/>
              </a:rPr>
              <a:t>sonal</a:t>
            </a:r>
            <a:r>
              <a:rPr dirty="0" sz="1600">
                <a:latin typeface="Tahoma"/>
                <a:cs typeface="Tahoma"/>
              </a:rPr>
              <a:t>i</a:t>
            </a:r>
            <a:r>
              <a:rPr dirty="0" sz="1600" spc="-25">
                <a:latin typeface="Tahoma"/>
                <a:cs typeface="Tahoma"/>
              </a:rPr>
              <a:t>z</a:t>
            </a:r>
            <a:r>
              <a:rPr dirty="0" sz="1600">
                <a:latin typeface="Tahoma"/>
                <a:cs typeface="Tahoma"/>
              </a:rPr>
              <a:t>ed  </a:t>
            </a:r>
            <a:r>
              <a:rPr dirty="0" sz="1600">
                <a:latin typeface="Tahoma"/>
                <a:cs typeface="Tahoma"/>
              </a:rPr>
              <a:t>recommendations.</a:t>
            </a:r>
            <a:endParaRPr sz="1600">
              <a:latin typeface="Tahoma"/>
              <a:cs typeface="Tahoma"/>
            </a:endParaRPr>
          </a:p>
          <a:p>
            <a:pPr algn="just" marL="91440" marR="17716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dirty="0" sz="1600" spc="-60" b="1">
                <a:latin typeface="Tahoma"/>
                <a:cs typeface="Tahoma"/>
              </a:rPr>
              <a:t>G</a:t>
            </a:r>
            <a:r>
              <a:rPr dirty="0" sz="1600" spc="-80" b="1">
                <a:latin typeface="Tahoma"/>
                <a:cs typeface="Tahoma"/>
              </a:rPr>
              <a:t>o</a:t>
            </a:r>
            <a:r>
              <a:rPr dirty="0" sz="1600" spc="-85" b="1">
                <a:latin typeface="Tahoma"/>
                <a:cs typeface="Tahoma"/>
              </a:rPr>
              <a:t>o</a:t>
            </a:r>
            <a:r>
              <a:rPr dirty="0" sz="1600" spc="-90" b="1">
                <a:latin typeface="Tahoma"/>
                <a:cs typeface="Tahoma"/>
              </a:rPr>
              <a:t>gl</a:t>
            </a:r>
            <a:r>
              <a:rPr dirty="0" sz="1600" spc="-105" b="1">
                <a:latin typeface="Tahoma"/>
                <a:cs typeface="Tahoma"/>
              </a:rPr>
              <a:t>e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110" b="1">
                <a:latin typeface="Tahoma"/>
                <a:cs typeface="Tahoma"/>
              </a:rPr>
              <a:t>BigǪue</a:t>
            </a:r>
            <a:r>
              <a:rPr dirty="0" sz="1600" spc="-60" b="1">
                <a:latin typeface="Tahoma"/>
                <a:cs typeface="Tahoma"/>
              </a:rPr>
              <a:t>r</a:t>
            </a:r>
            <a:r>
              <a:rPr dirty="0" sz="1600" spc="-135" b="1">
                <a:latin typeface="Tahoma"/>
                <a:cs typeface="Tahoma"/>
              </a:rPr>
              <a:t>y</a:t>
            </a:r>
            <a:r>
              <a:rPr dirty="0" sz="1600" spc="-155" b="1">
                <a:latin typeface="Tahoma"/>
                <a:cs typeface="Tahoma"/>
              </a:rPr>
              <a:t> 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95" b="1">
                <a:latin typeface="Tahoma"/>
                <a:cs typeface="Tahoma"/>
              </a:rPr>
              <a:t>n</a:t>
            </a:r>
            <a:r>
              <a:rPr dirty="0" sz="1600" spc="-90" b="1">
                <a:latin typeface="Tahoma"/>
                <a:cs typeface="Tahoma"/>
              </a:rPr>
              <a:t>d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114" b="1">
                <a:latin typeface="Tahoma"/>
                <a:cs typeface="Tahoma"/>
              </a:rPr>
              <a:t>NLP(N</a:t>
            </a:r>
            <a:r>
              <a:rPr dirty="0" sz="1600" spc="-130" b="1">
                <a:latin typeface="Tahoma"/>
                <a:cs typeface="Tahoma"/>
              </a:rPr>
              <a:t>a</a:t>
            </a:r>
            <a:r>
              <a:rPr dirty="0" sz="1600" spc="-85" b="1">
                <a:latin typeface="Tahoma"/>
                <a:cs typeface="Tahoma"/>
              </a:rPr>
              <a:t>t</a:t>
            </a:r>
            <a:r>
              <a:rPr dirty="0" sz="1600" spc="-130" b="1">
                <a:latin typeface="Tahoma"/>
                <a:cs typeface="Tahoma"/>
              </a:rPr>
              <a:t>u</a:t>
            </a:r>
            <a:r>
              <a:rPr dirty="0" sz="1600" spc="-145" b="1">
                <a:latin typeface="Tahoma"/>
                <a:cs typeface="Tahoma"/>
              </a:rPr>
              <a:t>r</a:t>
            </a:r>
            <a:r>
              <a:rPr dirty="0" sz="1600" spc="-75" b="1">
                <a:latin typeface="Tahoma"/>
                <a:cs typeface="Tahoma"/>
              </a:rPr>
              <a:t>a</a:t>
            </a:r>
            <a:r>
              <a:rPr dirty="0" sz="1600" spc="-15" b="1">
                <a:latin typeface="Tahoma"/>
                <a:cs typeface="Tahoma"/>
              </a:rPr>
              <a:t>l</a:t>
            </a:r>
            <a:r>
              <a:rPr dirty="0" sz="1600" spc="-95" b="1">
                <a:latin typeface="Tahoma"/>
                <a:cs typeface="Tahoma"/>
              </a:rPr>
              <a:t> </a:t>
            </a:r>
            <a:r>
              <a:rPr dirty="0" sz="1600" spc="-80" b="1">
                <a:latin typeface="Tahoma"/>
                <a:cs typeface="Tahoma"/>
              </a:rPr>
              <a:t>L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125" b="1">
                <a:latin typeface="Tahoma"/>
                <a:cs typeface="Tahoma"/>
              </a:rPr>
              <a:t>ngu</a:t>
            </a:r>
            <a:r>
              <a:rPr dirty="0" sz="1600" spc="-125" b="1">
                <a:latin typeface="Tahoma"/>
                <a:cs typeface="Tahoma"/>
              </a:rPr>
              <a:t>a</a:t>
            </a:r>
            <a:r>
              <a:rPr dirty="0" sz="1600" spc="-220" b="1">
                <a:latin typeface="Tahoma"/>
                <a:cs typeface="Tahoma"/>
              </a:rPr>
              <a:t>g</a:t>
            </a:r>
            <a:r>
              <a:rPr dirty="0" sz="1600" spc="-45" b="1">
                <a:latin typeface="Tahoma"/>
                <a:cs typeface="Tahoma"/>
              </a:rPr>
              <a:t>e  </a:t>
            </a:r>
            <a:r>
              <a:rPr dirty="0" sz="1600" spc="-90" b="1">
                <a:latin typeface="Tahoma"/>
                <a:cs typeface="Tahoma"/>
              </a:rPr>
              <a:t>Processing)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for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predictive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analysis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enabling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data-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driven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decisions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demand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forecasting.</a:t>
            </a:r>
            <a:endParaRPr sz="1600">
              <a:latin typeface="Tahoma"/>
              <a:cs typeface="Tahoma"/>
            </a:endParaRPr>
          </a:p>
          <a:p>
            <a:pPr marL="91440" marR="37973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dirty="0" sz="1600" spc="-135" b="1">
                <a:latin typeface="Tahoma"/>
                <a:cs typeface="Tahoma"/>
              </a:rPr>
              <a:t>P</a:t>
            </a:r>
            <a:r>
              <a:rPr dirty="0" sz="1600" spc="-90" b="1">
                <a:latin typeface="Tahoma"/>
                <a:cs typeface="Tahoma"/>
              </a:rPr>
              <a:t>o</a:t>
            </a:r>
            <a:r>
              <a:rPr dirty="0" sz="1600" spc="-225" b="1">
                <a:latin typeface="Tahoma"/>
                <a:cs typeface="Tahoma"/>
              </a:rPr>
              <a:t>w</a:t>
            </a:r>
            <a:r>
              <a:rPr dirty="0" sz="1600" spc="-105" b="1">
                <a:latin typeface="Tahoma"/>
                <a:cs typeface="Tahoma"/>
              </a:rPr>
              <a:t>e</a:t>
            </a:r>
            <a:r>
              <a:rPr dirty="0" sz="1600" spc="-75" b="1">
                <a:latin typeface="Tahoma"/>
                <a:cs typeface="Tahoma"/>
              </a:rPr>
              <a:t>r</a:t>
            </a:r>
            <a:r>
              <a:rPr dirty="0" sz="1600" spc="-160" b="1">
                <a:latin typeface="Tahoma"/>
                <a:cs typeface="Tahoma"/>
              </a:rPr>
              <a:t> </a:t>
            </a:r>
            <a:r>
              <a:rPr dirty="0" sz="1600" spc="-250" b="1">
                <a:latin typeface="Tahoma"/>
                <a:cs typeface="Tahoma"/>
              </a:rPr>
              <a:t>B</a:t>
            </a:r>
            <a:r>
              <a:rPr dirty="0" sz="1600" spc="-175" b="1">
                <a:latin typeface="Tahoma"/>
                <a:cs typeface="Tahoma"/>
              </a:rPr>
              <a:t>I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e</a:t>
            </a:r>
            <a:r>
              <a:rPr dirty="0" sz="1600" spc="-60">
                <a:latin typeface="Tahoma"/>
                <a:cs typeface="Tahoma"/>
              </a:rPr>
              <a:t>xt</a:t>
            </a:r>
            <a:r>
              <a:rPr dirty="0" sz="1600" spc="-100">
                <a:latin typeface="Tahoma"/>
                <a:cs typeface="Tahoma"/>
              </a:rPr>
              <a:t>r</a:t>
            </a:r>
            <a:r>
              <a:rPr dirty="0" sz="1600" spc="50">
                <a:latin typeface="Tahoma"/>
                <a:cs typeface="Tahoma"/>
              </a:rPr>
              <a:t>a</a:t>
            </a:r>
            <a:r>
              <a:rPr dirty="0" sz="1600" spc="50">
                <a:latin typeface="Tahoma"/>
                <a:cs typeface="Tahoma"/>
              </a:rPr>
              <a:t>c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-25">
                <a:latin typeface="Tahoma"/>
                <a:cs typeface="Tahoma"/>
              </a:rPr>
              <a:t>ar</a:t>
            </a:r>
            <a:r>
              <a:rPr dirty="0" sz="1600" spc="-55">
                <a:latin typeface="Tahoma"/>
                <a:cs typeface="Tahoma"/>
              </a:rPr>
              <a:t>k</a:t>
            </a:r>
            <a:r>
              <a:rPr dirty="0" sz="1600" spc="-15">
                <a:latin typeface="Tahoma"/>
                <a:cs typeface="Tahoma"/>
              </a:rPr>
              <a:t>et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insi</a:t>
            </a:r>
            <a:r>
              <a:rPr dirty="0" sz="1600" spc="-70">
                <a:latin typeface="Tahoma"/>
                <a:cs typeface="Tahoma"/>
              </a:rPr>
              <a:t>g</a:t>
            </a:r>
            <a:r>
              <a:rPr dirty="0" sz="1600" spc="-75">
                <a:latin typeface="Tahoma"/>
                <a:cs typeface="Tahoma"/>
              </a:rPr>
              <a:t>h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f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40">
                <a:latin typeface="Tahoma"/>
                <a:cs typeface="Tahoma"/>
              </a:rPr>
              <a:t>r  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15">
                <a:latin typeface="Tahoma"/>
                <a:cs typeface="Tahoma"/>
              </a:rPr>
              <a:t>p</a:t>
            </a:r>
            <a:r>
              <a:rPr dirty="0" sz="1600" spc="-5">
                <a:latin typeface="Tahoma"/>
                <a:cs typeface="Tahoma"/>
              </a:rPr>
              <a:t>t</a:t>
            </a:r>
            <a:r>
              <a:rPr dirty="0" sz="1600" spc="5">
                <a:latin typeface="Tahoma"/>
                <a:cs typeface="Tahoma"/>
              </a:rPr>
              <a:t>imi</a:t>
            </a:r>
            <a:r>
              <a:rPr dirty="0" sz="1600" spc="-25">
                <a:latin typeface="Tahoma"/>
                <a:cs typeface="Tahoma"/>
              </a:rPr>
              <a:t>z</a:t>
            </a:r>
            <a:r>
              <a:rPr dirty="0" sz="1600">
                <a:latin typeface="Tahoma"/>
                <a:cs typeface="Tahoma"/>
              </a:rPr>
              <a:t>ed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20">
                <a:latin typeface="Tahoma"/>
                <a:cs typeface="Tahoma"/>
              </a:rPr>
              <a:t>duct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5">
                <a:latin typeface="Tahoma"/>
                <a:cs typeface="Tahoma"/>
              </a:rPr>
              <a:t>f</a:t>
            </a:r>
            <a:r>
              <a:rPr dirty="0" sz="1600" spc="-60">
                <a:latin typeface="Tahoma"/>
                <a:cs typeface="Tahoma"/>
              </a:rPr>
              <a:t>f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-35">
                <a:latin typeface="Tahoma"/>
                <a:cs typeface="Tahoma"/>
              </a:rPr>
              <a:t>in</a:t>
            </a:r>
            <a:r>
              <a:rPr dirty="0" sz="1600" spc="-50">
                <a:latin typeface="Tahoma"/>
                <a:cs typeface="Tahoma"/>
              </a:rPr>
              <a:t>g</a:t>
            </a:r>
            <a:r>
              <a:rPr dirty="0" sz="1600" spc="40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85">
                <a:latin typeface="Tahoma"/>
                <a:cs typeface="Tahoma"/>
              </a:rPr>
              <a:t>c</a:t>
            </a:r>
            <a:r>
              <a:rPr dirty="0" sz="1600" spc="-5">
                <a:latin typeface="Tahoma"/>
                <a:cs typeface="Tahoma"/>
              </a:rPr>
              <a:t>a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55">
                <a:latin typeface="Tahoma"/>
                <a:cs typeface="Tahoma"/>
              </a:rPr>
              <a:t>e</a:t>
            </a:r>
            <a:r>
              <a:rPr dirty="0" sz="1600" spc="-80">
                <a:latin typeface="Tahoma"/>
                <a:cs typeface="Tahoma"/>
              </a:rPr>
              <a:t>g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i</a:t>
            </a:r>
            <a:r>
              <a:rPr dirty="0" sz="1600" spc="-15">
                <a:latin typeface="Tahoma"/>
                <a:cs typeface="Tahoma"/>
              </a:rPr>
              <a:t>z</a:t>
            </a:r>
            <a:r>
              <a:rPr dirty="0" sz="1600" spc="-5">
                <a:latin typeface="Tahoma"/>
                <a:cs typeface="Tahoma"/>
              </a:rPr>
              <a:t>a</a:t>
            </a:r>
            <a:r>
              <a:rPr dirty="0" sz="1600" spc="-10">
                <a:latin typeface="Tahoma"/>
                <a:cs typeface="Tahoma"/>
              </a:rPr>
              <a:t>tio</a:t>
            </a:r>
            <a:r>
              <a:rPr dirty="0" sz="1600" spc="-5">
                <a:latin typeface="Tahoma"/>
                <a:cs typeface="Tahoma"/>
              </a:rPr>
              <a:t>n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  </a:t>
            </a:r>
            <a:r>
              <a:rPr dirty="0" sz="1600">
                <a:latin typeface="Tahoma"/>
                <a:cs typeface="Tahoma"/>
              </a:rPr>
              <a:t>imp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user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en</a:t>
            </a:r>
            <a:r>
              <a:rPr dirty="0" sz="1600" spc="-70">
                <a:latin typeface="Tahoma"/>
                <a:cs typeface="Tahoma"/>
              </a:rPr>
              <a:t>g</a:t>
            </a:r>
            <a:r>
              <a:rPr dirty="0" sz="1600" spc="-60">
                <a:latin typeface="Tahoma"/>
                <a:cs typeface="Tahoma"/>
              </a:rPr>
              <a:t>a</a:t>
            </a:r>
            <a:r>
              <a:rPr dirty="0" sz="1600" spc="-70">
                <a:latin typeface="Tahoma"/>
                <a:cs typeface="Tahoma"/>
              </a:rPr>
              <a:t>g</a:t>
            </a:r>
            <a:r>
              <a:rPr dirty="0" sz="1600" spc="5">
                <a:latin typeface="Tahoma"/>
                <a:cs typeface="Tahoma"/>
              </a:rPr>
              <a:t>e</a:t>
            </a:r>
            <a:r>
              <a:rPr dirty="0" sz="1600">
                <a:latin typeface="Tahoma"/>
                <a:cs typeface="Tahoma"/>
              </a:rPr>
              <a:t>m</a:t>
            </a:r>
            <a:r>
              <a:rPr dirty="0" sz="1600" spc="-20">
                <a:latin typeface="Tahoma"/>
                <a:cs typeface="Tahoma"/>
              </a:rPr>
              <a:t>ent.</a:t>
            </a:r>
            <a:endParaRPr sz="1600">
              <a:latin typeface="Tahoma"/>
              <a:cs typeface="Tahoma"/>
            </a:endParaRPr>
          </a:p>
          <a:p>
            <a:pPr marL="377825" indent="-28702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78460" algn="l"/>
              </a:tabLst>
            </a:pPr>
            <a:r>
              <a:rPr dirty="0" sz="1600" spc="-90" b="1">
                <a:latin typeface="Tahoma"/>
                <a:cs typeface="Tahoma"/>
              </a:rPr>
              <a:t>B</a:t>
            </a:r>
            <a:r>
              <a:rPr dirty="0" sz="1600" spc="-50" b="1">
                <a:latin typeface="Tahoma"/>
                <a:cs typeface="Tahoma"/>
              </a:rPr>
              <a:t>l</a:t>
            </a:r>
            <a:r>
              <a:rPr dirty="0" sz="1600" spc="-55" b="1">
                <a:latin typeface="Tahoma"/>
                <a:cs typeface="Tahoma"/>
              </a:rPr>
              <a:t>oc</a:t>
            </a:r>
            <a:r>
              <a:rPr dirty="0" sz="1600" spc="-95" b="1">
                <a:latin typeface="Tahoma"/>
                <a:cs typeface="Tahoma"/>
              </a:rPr>
              <a:t>k</a:t>
            </a:r>
            <a:r>
              <a:rPr dirty="0" sz="1600" spc="-50" b="1">
                <a:latin typeface="Tahoma"/>
                <a:cs typeface="Tahoma"/>
              </a:rPr>
              <a:t>ch</a:t>
            </a:r>
            <a:r>
              <a:rPr dirty="0" sz="1600" spc="-55" b="1">
                <a:latin typeface="Tahoma"/>
                <a:cs typeface="Tahoma"/>
              </a:rPr>
              <a:t>a</a:t>
            </a:r>
            <a:r>
              <a:rPr dirty="0" sz="1600" spc="-55" b="1">
                <a:latin typeface="Tahoma"/>
                <a:cs typeface="Tahoma"/>
              </a:rPr>
              <a:t>i</a:t>
            </a:r>
            <a:r>
              <a:rPr dirty="0" sz="1600" spc="-110" b="1">
                <a:latin typeface="Tahoma"/>
                <a:cs typeface="Tahoma"/>
              </a:rPr>
              <a:t>n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L</a:t>
            </a:r>
            <a:r>
              <a:rPr dirty="0" sz="1600" spc="-114" b="1">
                <a:latin typeface="Tahoma"/>
                <a:cs typeface="Tahoma"/>
              </a:rPr>
              <a:t>ed</a:t>
            </a:r>
            <a:r>
              <a:rPr dirty="0" sz="1600" spc="-140" b="1">
                <a:latin typeface="Tahoma"/>
                <a:cs typeface="Tahoma"/>
              </a:rPr>
              <a:t>g</a:t>
            </a:r>
            <a:r>
              <a:rPr dirty="0" sz="1600" spc="-105" b="1">
                <a:latin typeface="Tahoma"/>
                <a:cs typeface="Tahoma"/>
              </a:rPr>
              <a:t>e</a:t>
            </a:r>
            <a:r>
              <a:rPr dirty="0" sz="1600" spc="-75" b="1">
                <a:latin typeface="Tahoma"/>
                <a:cs typeface="Tahoma"/>
              </a:rPr>
              <a:t>r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used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15">
                <a:latin typeface="Tahoma"/>
                <a:cs typeface="Tahoma"/>
              </a:rPr>
              <a:t>eco</a:t>
            </a:r>
            <a:r>
              <a:rPr dirty="0" sz="1600" spc="-25">
                <a:latin typeface="Tahoma"/>
                <a:cs typeface="Tahoma"/>
              </a:rPr>
              <a:t>r</a:t>
            </a:r>
            <a:r>
              <a:rPr dirty="0" sz="1600" spc="1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dirty="0" sz="1600" spc="5">
                <a:latin typeface="Tahoma"/>
                <a:cs typeface="Tahoma"/>
              </a:rPr>
              <a:t>product’s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journey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at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each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step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(creation,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quality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dirty="0" sz="1600" spc="30">
                <a:latin typeface="Tahoma"/>
                <a:cs typeface="Tahoma"/>
              </a:rPr>
              <a:t>chec</a:t>
            </a:r>
            <a:r>
              <a:rPr dirty="0" sz="1600" spc="5">
                <a:latin typeface="Tahoma"/>
                <a:cs typeface="Tahoma"/>
              </a:rPr>
              <a:t>k</a:t>
            </a:r>
            <a:r>
              <a:rPr dirty="0" sz="1600" spc="40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shi</a:t>
            </a:r>
            <a:r>
              <a:rPr dirty="0" sz="1600" spc="25">
                <a:latin typeface="Tahoma"/>
                <a:cs typeface="Tahoma"/>
              </a:rPr>
              <a:t>p</a:t>
            </a:r>
            <a:r>
              <a:rPr dirty="0" sz="1600" spc="10">
                <a:latin typeface="Tahoma"/>
                <a:cs typeface="Tahoma"/>
              </a:rPr>
              <a:t>p</a:t>
            </a:r>
            <a:r>
              <a:rPr dirty="0" sz="1600" spc="10">
                <a:latin typeface="Tahoma"/>
                <a:cs typeface="Tahoma"/>
              </a:rPr>
              <a:t>i</a:t>
            </a:r>
            <a:r>
              <a:rPr dirty="0" sz="1600" spc="-70">
                <a:latin typeface="Tahoma"/>
                <a:cs typeface="Tahoma"/>
              </a:rPr>
              <a:t>n</a:t>
            </a:r>
            <a:r>
              <a:rPr dirty="0" sz="1600" spc="-65">
                <a:latin typeface="Tahoma"/>
                <a:cs typeface="Tahoma"/>
              </a:rPr>
              <a:t>g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25">
                <a:latin typeface="Tahoma"/>
                <a:cs typeface="Tahoma"/>
              </a:rPr>
              <a:t>t</a:t>
            </a:r>
            <a:r>
              <a:rPr dirty="0" sz="1600" spc="45">
                <a:latin typeface="Tahoma"/>
                <a:cs typeface="Tahoma"/>
              </a:rPr>
              <a:t>c</a:t>
            </a:r>
            <a:r>
              <a:rPr dirty="0" sz="1600" spc="-90">
                <a:latin typeface="Tahoma"/>
                <a:cs typeface="Tahoma"/>
              </a:rPr>
              <a:t>.)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679" y="1026667"/>
            <a:ext cx="2588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Times New Roman"/>
                <a:cs typeface="Times New Roman"/>
              </a:rPr>
              <a:t>Technology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Stack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470"/>
            <a:ext cx="2189606" cy="75333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-415"/>
              <a:t> </a:t>
            </a:r>
            <a:r>
              <a:rPr dirty="0"/>
              <a:t>APPROACH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7175754" y="856869"/>
            <a:ext cx="2430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Use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Case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8925" y="113601"/>
            <a:ext cx="1408782" cy="6508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1520" y="1171194"/>
            <a:ext cx="5715000" cy="17830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1795"/>
              </a:lnSpc>
            </a:pPr>
            <a:r>
              <a:rPr dirty="0" sz="1600" spc="-80" b="1">
                <a:latin typeface="Tahoma"/>
                <a:cs typeface="Tahoma"/>
              </a:rPr>
              <a:t>Technical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Feasibility: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All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the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technologies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required</a:t>
            </a:r>
            <a:r>
              <a:rPr dirty="0" sz="1600" spc="-1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this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are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dirty="0" sz="1600" spc="10">
                <a:latin typeface="Tahoma"/>
                <a:cs typeface="Tahoma"/>
              </a:rPr>
              <a:t>well</a:t>
            </a:r>
            <a:r>
              <a:rPr dirty="0" sz="1600" spc="-19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established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their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services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can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streamline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different</a:t>
            </a:r>
            <a:endParaRPr sz="16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dirty="0" sz="1600" spc="25">
                <a:latin typeface="Tahoma"/>
                <a:cs typeface="Tahoma"/>
              </a:rPr>
              <a:t>aspects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like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payment,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shipping,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authentication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etc.</a:t>
            </a:r>
            <a:endParaRPr sz="1600">
              <a:latin typeface="Tahoma"/>
              <a:cs typeface="Tahoma"/>
            </a:endParaRPr>
          </a:p>
          <a:p>
            <a:pPr marL="91440" marR="86995">
              <a:lnSpc>
                <a:spcPct val="100000"/>
              </a:lnSpc>
              <a:spcBef>
                <a:spcPts val="600"/>
              </a:spcBef>
            </a:pPr>
            <a:r>
              <a:rPr dirty="0" sz="1600" spc="-70" b="1">
                <a:latin typeface="Tahoma"/>
                <a:cs typeface="Tahoma"/>
              </a:rPr>
              <a:t>Resource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-85" b="1">
                <a:latin typeface="Tahoma"/>
                <a:cs typeface="Tahoma"/>
              </a:rPr>
              <a:t>Availability: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45">
                <a:latin typeface="Tahoma"/>
                <a:cs typeface="Tahoma"/>
              </a:rPr>
              <a:t>Their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is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huge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pool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suppliers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India 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(about </a:t>
            </a:r>
            <a:r>
              <a:rPr dirty="0" sz="1600" spc="-170" b="1">
                <a:latin typeface="Tahoma"/>
                <a:cs typeface="Tahoma"/>
              </a:rPr>
              <a:t>7 </a:t>
            </a:r>
            <a:r>
              <a:rPr dirty="0" sz="1600" spc="-65" b="1">
                <a:latin typeface="Tahoma"/>
                <a:cs typeface="Tahoma"/>
              </a:rPr>
              <a:t>million </a:t>
            </a:r>
            <a:r>
              <a:rPr dirty="0" sz="1600" spc="-80" b="1">
                <a:latin typeface="Tahoma"/>
                <a:cs typeface="Tahoma"/>
              </a:rPr>
              <a:t>artisans</a:t>
            </a:r>
            <a:r>
              <a:rPr dirty="0" sz="1600" spc="-80">
                <a:latin typeface="Tahoma"/>
                <a:cs typeface="Tahoma"/>
              </a:rPr>
              <a:t>) </a:t>
            </a:r>
            <a:r>
              <a:rPr dirty="0" sz="1600" spc="-5">
                <a:latin typeface="Tahoma"/>
                <a:cs typeface="Tahoma"/>
              </a:rPr>
              <a:t>and </a:t>
            </a:r>
            <a:r>
              <a:rPr dirty="0" sz="1600" spc="30">
                <a:latin typeface="Tahoma"/>
                <a:cs typeface="Tahoma"/>
              </a:rPr>
              <a:t>also </a:t>
            </a:r>
            <a:r>
              <a:rPr dirty="0" sz="1600" spc="-15">
                <a:latin typeface="Tahoma"/>
                <a:cs typeface="Tahoma"/>
              </a:rPr>
              <a:t>the </a:t>
            </a:r>
            <a:r>
              <a:rPr dirty="0" sz="1600" spc="-10">
                <a:latin typeface="Tahoma"/>
                <a:cs typeface="Tahoma"/>
              </a:rPr>
              <a:t>department </a:t>
            </a:r>
            <a:r>
              <a:rPr dirty="0" sz="1600" spc="-15">
                <a:latin typeface="Tahoma"/>
                <a:cs typeface="Tahoma"/>
              </a:rPr>
              <a:t>of </a:t>
            </a:r>
            <a:r>
              <a:rPr dirty="0" sz="1600" spc="15">
                <a:latin typeface="Tahoma"/>
                <a:cs typeface="Tahoma"/>
              </a:rPr>
              <a:t>posts </a:t>
            </a:r>
            <a:r>
              <a:rPr dirty="0" sz="1600" spc="35">
                <a:latin typeface="Tahoma"/>
                <a:cs typeface="Tahoma"/>
              </a:rPr>
              <a:t>is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reliable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cost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efficient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logistics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network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spread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across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75" b="1">
                <a:latin typeface="Tahoma"/>
                <a:cs typeface="Tahoma"/>
              </a:rPr>
              <a:t>219 </a:t>
            </a:r>
            <a:r>
              <a:rPr dirty="0" sz="1600" spc="-455" b="1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countries</a:t>
            </a:r>
            <a:r>
              <a:rPr dirty="0" sz="1600" spc="-65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17996" y="1346568"/>
            <a:ext cx="5589270" cy="5003800"/>
          </a:xfrm>
          <a:custGeom>
            <a:avLst/>
            <a:gdLst/>
            <a:ahLst/>
            <a:cxnLst/>
            <a:rect l="l" t="t" r="r" b="b"/>
            <a:pathLst>
              <a:path w="5589270" h="5003800">
                <a:moveTo>
                  <a:pt x="0" y="5003673"/>
                </a:moveTo>
                <a:lnTo>
                  <a:pt x="5588761" y="5003673"/>
                </a:lnTo>
                <a:lnTo>
                  <a:pt x="5588761" y="0"/>
                </a:lnTo>
                <a:lnTo>
                  <a:pt x="0" y="0"/>
                </a:lnTo>
                <a:lnTo>
                  <a:pt x="0" y="5003673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97497" y="1397635"/>
            <a:ext cx="5396230" cy="487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u="sng" sz="1600" spc="-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</a:t>
            </a:r>
            <a:r>
              <a:rPr dirty="0" u="sng" sz="1600" spc="-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dirty="0" u="sng" sz="1600" spc="-1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P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20">
                <a:latin typeface="Tahoma"/>
                <a:cs typeface="Tahoma"/>
              </a:rPr>
              <a:t>duct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Ǫ</a:t>
            </a:r>
            <a:r>
              <a:rPr dirty="0" sz="1600" spc="5">
                <a:latin typeface="Tahoma"/>
                <a:cs typeface="Tahoma"/>
              </a:rPr>
              <a:t>u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-30">
                <a:latin typeface="Tahoma"/>
                <a:cs typeface="Tahoma"/>
              </a:rPr>
              <a:t>ity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75">
                <a:latin typeface="Tahoma"/>
                <a:cs typeface="Tahoma"/>
              </a:rPr>
              <a:t>C</a:t>
            </a:r>
            <a:r>
              <a:rPr dirty="0" sz="1600" spc="60">
                <a:latin typeface="Tahoma"/>
                <a:cs typeface="Tahoma"/>
              </a:rPr>
              <a:t>o</a:t>
            </a:r>
            <a:r>
              <a:rPr dirty="0" sz="1600" spc="-35">
                <a:latin typeface="Tahoma"/>
                <a:cs typeface="Tahoma"/>
              </a:rPr>
              <a:t>nt</a:t>
            </a:r>
            <a:r>
              <a:rPr dirty="0" sz="1600" spc="-6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45">
                <a:latin typeface="Tahoma"/>
                <a:cs typeface="Tahoma"/>
              </a:rPr>
              <a:t>l</a:t>
            </a:r>
            <a:endParaRPr sz="1600">
              <a:latin typeface="Tahoma"/>
              <a:cs typeface="Tahoma"/>
            </a:endParaRPr>
          </a:p>
          <a:p>
            <a:pPr marL="355600" marR="33020">
              <a:lnSpc>
                <a:spcPct val="100000"/>
              </a:lnSpc>
            </a:pPr>
            <a:r>
              <a:rPr dirty="0" sz="1600" spc="-60" b="1">
                <a:latin typeface="Tahoma"/>
                <a:cs typeface="Tahoma"/>
              </a:rPr>
              <a:t>S</a:t>
            </a:r>
            <a:r>
              <a:rPr dirty="0" sz="1600" spc="-65" b="1">
                <a:latin typeface="Tahoma"/>
                <a:cs typeface="Tahoma"/>
              </a:rPr>
              <a:t>o</a:t>
            </a:r>
            <a:r>
              <a:rPr dirty="0" sz="1600" spc="-40" b="1">
                <a:latin typeface="Tahoma"/>
                <a:cs typeface="Tahoma"/>
              </a:rPr>
              <a:t>l</a:t>
            </a:r>
            <a:r>
              <a:rPr dirty="0" sz="1600" spc="-105" b="1">
                <a:latin typeface="Tahoma"/>
                <a:cs typeface="Tahoma"/>
              </a:rPr>
              <a:t>u</a:t>
            </a:r>
            <a:r>
              <a:rPr dirty="0" sz="1600" spc="-100" b="1">
                <a:latin typeface="Tahoma"/>
                <a:cs typeface="Tahoma"/>
              </a:rPr>
              <a:t>tion</a:t>
            </a:r>
            <a:r>
              <a:rPr dirty="0" sz="1600" spc="-70" b="1">
                <a:latin typeface="Tahoma"/>
                <a:cs typeface="Tahoma"/>
              </a:rPr>
              <a:t>: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-185">
                <a:latin typeface="Tahoma"/>
                <a:cs typeface="Tahoma"/>
              </a:rPr>
              <a:t>I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35">
                <a:latin typeface="Tahoma"/>
                <a:cs typeface="Tahoma"/>
              </a:rPr>
              <a:t>p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5">
                <a:latin typeface="Tahoma"/>
                <a:cs typeface="Tahoma"/>
              </a:rPr>
              <a:t>e</a:t>
            </a:r>
            <a:r>
              <a:rPr dirty="0" sz="1600">
                <a:latin typeface="Tahoma"/>
                <a:cs typeface="Tahoma"/>
              </a:rPr>
              <a:t>m</a:t>
            </a:r>
            <a:r>
              <a:rPr dirty="0" sz="1600" spc="-15">
                <a:latin typeface="Tahoma"/>
                <a:cs typeface="Tahoma"/>
              </a:rPr>
              <a:t>ent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s</a:t>
            </a:r>
            <a:r>
              <a:rPr dirty="0" sz="1600">
                <a:latin typeface="Tahoma"/>
                <a:cs typeface="Tahoma"/>
              </a:rPr>
              <a:t>tric</a:t>
            </a:r>
            <a:r>
              <a:rPr dirty="0" sz="1600" spc="5">
                <a:latin typeface="Tahoma"/>
                <a:cs typeface="Tahoma"/>
              </a:rPr>
              <a:t>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35">
                <a:latin typeface="Tahoma"/>
                <a:cs typeface="Tahoma"/>
              </a:rPr>
              <a:t>el</a:t>
            </a:r>
            <a:r>
              <a:rPr dirty="0" sz="1600" spc="25">
                <a:latin typeface="Tahoma"/>
                <a:cs typeface="Tahoma"/>
              </a:rPr>
              <a:t>l</a:t>
            </a:r>
            <a:r>
              <a:rPr dirty="0" sz="1600" spc="-25">
                <a:latin typeface="Tahoma"/>
                <a:cs typeface="Tahoma"/>
              </a:rPr>
              <a:t>er</a:t>
            </a:r>
            <a:r>
              <a:rPr dirty="0" sz="1600" spc="-195">
                <a:latin typeface="Tahoma"/>
                <a:cs typeface="Tahoma"/>
              </a:rPr>
              <a:t> 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20">
                <a:latin typeface="Tahoma"/>
                <a:cs typeface="Tahoma"/>
              </a:rPr>
              <a:t>ifi</a:t>
            </a:r>
            <a:r>
              <a:rPr dirty="0" sz="1600" spc="30">
                <a:latin typeface="Tahoma"/>
                <a:cs typeface="Tahoma"/>
              </a:rPr>
              <a:t>c</a:t>
            </a:r>
            <a:r>
              <a:rPr dirty="0" sz="1600" spc="-5">
                <a:latin typeface="Tahoma"/>
                <a:cs typeface="Tahoma"/>
              </a:rPr>
              <a:t>a</a:t>
            </a:r>
            <a:r>
              <a:rPr dirty="0" sz="1600" spc="-10">
                <a:latin typeface="Tahoma"/>
                <a:cs typeface="Tahoma"/>
              </a:rPr>
              <a:t>tio</a:t>
            </a:r>
            <a:r>
              <a:rPr dirty="0" sz="1600" spc="-5">
                <a:latin typeface="Tahoma"/>
                <a:cs typeface="Tahoma"/>
              </a:rPr>
              <a:t>n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-20">
                <a:latin typeface="Tahoma"/>
                <a:cs typeface="Tahoma"/>
              </a:rPr>
              <a:t>eview  </a:t>
            </a:r>
            <a:r>
              <a:rPr dirty="0" sz="1600" spc="-10">
                <a:latin typeface="Tahoma"/>
                <a:cs typeface="Tahoma"/>
              </a:rPr>
              <a:t>system,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along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with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quality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checks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for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all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products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before 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shipment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guarantee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authenticity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reliability.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Challenge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Conflict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Resolution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Product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Customization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dirty="0" sz="1600" spc="-60" b="1">
                <a:latin typeface="Tahoma"/>
                <a:cs typeface="Tahoma"/>
              </a:rPr>
              <a:t>S</a:t>
            </a:r>
            <a:r>
              <a:rPr dirty="0" sz="1600" spc="-65" b="1">
                <a:latin typeface="Tahoma"/>
                <a:cs typeface="Tahoma"/>
              </a:rPr>
              <a:t>o</a:t>
            </a:r>
            <a:r>
              <a:rPr dirty="0" sz="1600" spc="-40" b="1">
                <a:latin typeface="Tahoma"/>
                <a:cs typeface="Tahoma"/>
              </a:rPr>
              <a:t>l</a:t>
            </a:r>
            <a:r>
              <a:rPr dirty="0" sz="1600" spc="-105" b="1">
                <a:latin typeface="Tahoma"/>
                <a:cs typeface="Tahoma"/>
              </a:rPr>
              <a:t>u</a:t>
            </a:r>
            <a:r>
              <a:rPr dirty="0" sz="1600" spc="-100" b="1">
                <a:latin typeface="Tahoma"/>
                <a:cs typeface="Tahoma"/>
              </a:rPr>
              <a:t>tion</a:t>
            </a:r>
            <a:r>
              <a:rPr dirty="0" sz="1600" spc="-70" b="1">
                <a:latin typeface="Tahoma"/>
                <a:cs typeface="Tahoma"/>
              </a:rPr>
              <a:t>: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U</a:t>
            </a:r>
            <a:r>
              <a:rPr dirty="0" sz="1600" spc="30">
                <a:latin typeface="Tahoma"/>
                <a:cs typeface="Tahoma"/>
              </a:rPr>
              <a:t>se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l</a:t>
            </a:r>
            <a:r>
              <a:rPr dirty="0" sz="1600" spc="-55">
                <a:latin typeface="Tahoma"/>
                <a:cs typeface="Tahoma"/>
              </a:rPr>
              <a:t>e</a:t>
            </a:r>
            <a:r>
              <a:rPr dirty="0" sz="1600" spc="-80">
                <a:latin typeface="Tahoma"/>
                <a:cs typeface="Tahoma"/>
              </a:rPr>
              <a:t>g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15">
                <a:latin typeface="Tahoma"/>
                <a:cs typeface="Tahoma"/>
              </a:rPr>
              <a:t>l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writ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10">
                <a:latin typeface="Tahoma"/>
                <a:cs typeface="Tahoma"/>
              </a:rPr>
              <a:t>en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bon</a:t>
            </a:r>
            <a:r>
              <a:rPr dirty="0" sz="1600" spc="5">
                <a:latin typeface="Tahoma"/>
                <a:cs typeface="Tahoma"/>
              </a:rPr>
              <a:t>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</a:t>
            </a:r>
            <a:r>
              <a:rPr dirty="0" sz="1600" spc="-25">
                <a:latin typeface="Tahoma"/>
                <a:cs typeface="Tahoma"/>
              </a:rPr>
              <a:t>a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co</a:t>
            </a:r>
            <a:r>
              <a:rPr dirty="0" sz="1600" spc="25">
                <a:latin typeface="Tahoma"/>
                <a:cs typeface="Tahoma"/>
              </a:rPr>
              <a:t>n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a</a:t>
            </a:r>
            <a:r>
              <a:rPr dirty="0" sz="1600" spc="5">
                <a:latin typeface="Tahoma"/>
                <a:cs typeface="Tahoma"/>
              </a:rPr>
              <a:t>i</a:t>
            </a:r>
            <a:r>
              <a:rPr dirty="0" sz="1600" spc="20">
                <a:latin typeface="Tahoma"/>
                <a:cs typeface="Tahoma"/>
              </a:rPr>
              <a:t>n</a:t>
            </a:r>
            <a:r>
              <a:rPr dirty="0" sz="1600" spc="20">
                <a:latin typeface="Tahoma"/>
                <a:cs typeface="Tahoma"/>
              </a:rPr>
              <a:t>s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45">
                <a:latin typeface="Tahoma"/>
                <a:cs typeface="Tahoma"/>
              </a:rPr>
              <a:t>l</a:t>
            </a:r>
            <a:endParaRPr sz="1600">
              <a:latin typeface="Tahoma"/>
              <a:cs typeface="Tahoma"/>
            </a:endParaRPr>
          </a:p>
          <a:p>
            <a:pPr marL="355600" marR="360045">
              <a:lnSpc>
                <a:spcPct val="100000"/>
              </a:lnSpc>
            </a:pPr>
            <a:r>
              <a:rPr dirty="0" sz="1600" spc="5">
                <a:latin typeface="Tahoma"/>
                <a:cs typeface="Tahoma"/>
              </a:rPr>
              <a:t>customization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details.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10">
                <a:latin typeface="Tahoma"/>
                <a:cs typeface="Tahoma"/>
              </a:rPr>
              <a:t>If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product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doesn’t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meet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the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agreed </a:t>
            </a:r>
            <a:r>
              <a:rPr dirty="0" sz="1600" spc="-15">
                <a:latin typeface="Tahoma"/>
                <a:cs typeface="Tahoma"/>
              </a:rPr>
              <a:t>terms, the </a:t>
            </a:r>
            <a:r>
              <a:rPr dirty="0" sz="1600" spc="-30">
                <a:latin typeface="Tahoma"/>
                <a:cs typeface="Tahoma"/>
              </a:rPr>
              <a:t>buyer gets </a:t>
            </a:r>
            <a:r>
              <a:rPr dirty="0" sz="1600" spc="5">
                <a:latin typeface="Tahoma"/>
                <a:cs typeface="Tahoma"/>
              </a:rPr>
              <a:t>a </a:t>
            </a:r>
            <a:r>
              <a:rPr dirty="0" sz="1600" spc="-25">
                <a:latin typeface="Tahoma"/>
                <a:cs typeface="Tahoma"/>
              </a:rPr>
              <a:t>refund </a:t>
            </a:r>
            <a:r>
              <a:rPr dirty="0" sz="1600" spc="-5">
                <a:latin typeface="Tahoma"/>
                <a:cs typeface="Tahoma"/>
              </a:rPr>
              <a:t>otherwise </a:t>
            </a:r>
            <a:r>
              <a:rPr dirty="0" sz="1600" spc="-10">
                <a:latin typeface="Tahoma"/>
                <a:cs typeface="Tahoma"/>
              </a:rPr>
              <a:t>no </a:t>
            </a:r>
            <a:r>
              <a:rPr dirty="0" sz="1600" spc="-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refund.</a:t>
            </a:r>
            <a:endParaRPr sz="1600">
              <a:latin typeface="Tahoma"/>
              <a:cs typeface="Tahoma"/>
            </a:endParaRPr>
          </a:p>
          <a:p>
            <a:pPr marL="358140" marR="156210" indent="-342900">
              <a:lnSpc>
                <a:spcPct val="100000"/>
              </a:lnSpc>
              <a:spcBef>
                <a:spcPts val="1205"/>
              </a:spcBef>
              <a:buAutoNum type="arabicPeriod" startAt="3"/>
              <a:tabLst>
                <a:tab pos="358140" algn="l"/>
                <a:tab pos="358775" algn="l"/>
              </a:tabLst>
            </a:pP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Challenge</a:t>
            </a:r>
            <a:r>
              <a:rPr dirty="0" sz="1600" spc="-7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 </a:t>
            </a:r>
            <a:r>
              <a:rPr dirty="0" sz="1600">
                <a:latin typeface="Tahoma"/>
                <a:cs typeface="Tahoma"/>
              </a:rPr>
              <a:t>Limited </a:t>
            </a:r>
            <a:r>
              <a:rPr dirty="0" sz="1600" spc="-15">
                <a:latin typeface="Tahoma"/>
                <a:cs typeface="Tahoma"/>
              </a:rPr>
              <a:t>Digital Literacy </a:t>
            </a:r>
            <a:r>
              <a:rPr dirty="0" sz="1600" spc="-30">
                <a:latin typeface="Tahoma"/>
                <a:cs typeface="Tahoma"/>
              </a:rPr>
              <a:t>Among </a:t>
            </a:r>
            <a:r>
              <a:rPr dirty="0" sz="1600">
                <a:latin typeface="Tahoma"/>
                <a:cs typeface="Tahoma"/>
              </a:rPr>
              <a:t>Artisans 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S</a:t>
            </a:r>
            <a:r>
              <a:rPr dirty="0" sz="1600" spc="-65" b="1">
                <a:latin typeface="Tahoma"/>
                <a:cs typeface="Tahoma"/>
              </a:rPr>
              <a:t>o</a:t>
            </a:r>
            <a:r>
              <a:rPr dirty="0" sz="1600" spc="-40" b="1">
                <a:latin typeface="Tahoma"/>
                <a:cs typeface="Tahoma"/>
              </a:rPr>
              <a:t>l</a:t>
            </a:r>
            <a:r>
              <a:rPr dirty="0" sz="1600" spc="-105" b="1">
                <a:latin typeface="Tahoma"/>
                <a:cs typeface="Tahoma"/>
              </a:rPr>
              <a:t>u</a:t>
            </a:r>
            <a:r>
              <a:rPr dirty="0" sz="1600" spc="-100" b="1">
                <a:latin typeface="Tahoma"/>
                <a:cs typeface="Tahoma"/>
              </a:rPr>
              <a:t>tion</a:t>
            </a:r>
            <a:r>
              <a:rPr dirty="0" sz="1600" spc="-70" b="1">
                <a:latin typeface="Tahoma"/>
                <a:cs typeface="Tahoma"/>
              </a:rPr>
              <a:t>: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P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20">
                <a:latin typeface="Tahoma"/>
                <a:cs typeface="Tahoma"/>
              </a:rPr>
              <a:t>vi</a:t>
            </a:r>
            <a:r>
              <a:rPr dirty="0" sz="1600" spc="-25">
                <a:latin typeface="Tahoma"/>
                <a:cs typeface="Tahoma"/>
              </a:rPr>
              <a:t>d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90">
                <a:latin typeface="Tahoma"/>
                <a:cs typeface="Tahoma"/>
              </a:rPr>
              <a:t>r</a:t>
            </a:r>
            <a:r>
              <a:rPr dirty="0" sz="1600" spc="10">
                <a:latin typeface="Tahoma"/>
                <a:cs typeface="Tahoma"/>
              </a:rPr>
              <a:t>a</a:t>
            </a:r>
            <a:r>
              <a:rPr dirty="0" sz="1600" spc="5">
                <a:latin typeface="Tahoma"/>
                <a:cs typeface="Tahoma"/>
              </a:rPr>
              <a:t>i</a:t>
            </a:r>
            <a:r>
              <a:rPr dirty="0" sz="1600" spc="-35">
                <a:latin typeface="Tahoma"/>
                <a:cs typeface="Tahoma"/>
              </a:rPr>
              <a:t>nin</a:t>
            </a:r>
            <a:r>
              <a:rPr dirty="0" sz="1600" spc="-40">
                <a:latin typeface="Tahoma"/>
                <a:cs typeface="Tahoma"/>
              </a:rPr>
              <a:t>g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sup</a:t>
            </a:r>
            <a:r>
              <a:rPr dirty="0" sz="1600" spc="-15">
                <a:latin typeface="Tahoma"/>
                <a:cs typeface="Tahoma"/>
              </a:rPr>
              <a:t>por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arti</a:t>
            </a:r>
            <a:r>
              <a:rPr dirty="0" sz="1600" spc="5">
                <a:latin typeface="Tahoma"/>
                <a:cs typeface="Tahoma"/>
              </a:rPr>
              <a:t>s</a:t>
            </a:r>
            <a:r>
              <a:rPr dirty="0" sz="1600" spc="15">
                <a:latin typeface="Tahoma"/>
                <a:cs typeface="Tahoma"/>
              </a:rPr>
              <a:t>an</a:t>
            </a:r>
            <a:r>
              <a:rPr dirty="0" sz="1600" spc="15">
                <a:latin typeface="Tahoma"/>
                <a:cs typeface="Tahoma"/>
              </a:rPr>
              <a:t>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10">
                <a:latin typeface="Tahoma"/>
                <a:cs typeface="Tahoma"/>
              </a:rPr>
              <a:t>n  </a:t>
            </a:r>
            <a:r>
              <a:rPr dirty="0" sz="1600" spc="-10">
                <a:latin typeface="Tahoma"/>
                <a:cs typeface="Tahoma"/>
              </a:rPr>
              <a:t>using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p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-5">
                <a:latin typeface="Tahoma"/>
                <a:cs typeface="Tahoma"/>
              </a:rPr>
              <a:t>a</a:t>
            </a:r>
            <a:r>
              <a:rPr dirty="0" sz="1600" spc="-30">
                <a:latin typeface="Tahoma"/>
                <a:cs typeface="Tahoma"/>
              </a:rPr>
              <a:t>t</a:t>
            </a:r>
            <a:r>
              <a:rPr dirty="0" sz="1600" spc="-50">
                <a:latin typeface="Tahoma"/>
                <a:cs typeface="Tahoma"/>
              </a:rPr>
              <a:t>f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inc</a:t>
            </a:r>
            <a:r>
              <a:rPr dirty="0" sz="1600" spc="25">
                <a:latin typeface="Tahoma"/>
                <a:cs typeface="Tahoma"/>
              </a:rPr>
              <a:t>l</a:t>
            </a:r>
            <a:r>
              <a:rPr dirty="0" sz="1600" spc="-20">
                <a:latin typeface="Tahoma"/>
                <a:cs typeface="Tahoma"/>
              </a:rPr>
              <a:t>uding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ea</a:t>
            </a:r>
            <a:r>
              <a:rPr dirty="0" sz="1600">
                <a:latin typeface="Tahoma"/>
                <a:cs typeface="Tahoma"/>
              </a:rPr>
              <a:t>s</a:t>
            </a:r>
            <a:r>
              <a:rPr dirty="0" sz="1600" spc="-80">
                <a:latin typeface="Tahoma"/>
                <a:cs typeface="Tahoma"/>
              </a:rPr>
              <a:t>y</a:t>
            </a:r>
            <a:r>
              <a:rPr dirty="0" sz="1600" spc="-45">
                <a:latin typeface="Tahoma"/>
                <a:cs typeface="Tahoma"/>
              </a:rPr>
              <a:t>-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45">
                <a:latin typeface="Tahoma"/>
                <a:cs typeface="Tahoma"/>
              </a:rPr>
              <a:t>-</a:t>
            </a:r>
            <a:r>
              <a:rPr dirty="0" sz="1600" spc="15">
                <a:latin typeface="Tahoma"/>
                <a:cs typeface="Tahoma"/>
              </a:rPr>
              <a:t>use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in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-70">
                <a:latin typeface="Tahoma"/>
                <a:cs typeface="Tahoma"/>
              </a:rPr>
              <a:t>f</a:t>
            </a:r>
            <a:r>
              <a:rPr dirty="0" sz="1600" spc="50">
                <a:latin typeface="Tahoma"/>
                <a:cs typeface="Tahoma"/>
              </a:rPr>
              <a:t>a</a:t>
            </a:r>
            <a:r>
              <a:rPr dirty="0" sz="1600" spc="50">
                <a:latin typeface="Tahoma"/>
                <a:cs typeface="Tahoma"/>
              </a:rPr>
              <a:t>c</a:t>
            </a:r>
            <a:r>
              <a:rPr dirty="0" sz="1600" spc="30">
                <a:latin typeface="Tahoma"/>
                <a:cs typeface="Tahoma"/>
              </a:rPr>
              <a:t>es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  </a:t>
            </a:r>
            <a:r>
              <a:rPr dirty="0" sz="1600">
                <a:latin typeface="Tahoma"/>
                <a:cs typeface="Tahoma"/>
              </a:rPr>
              <a:t>multilingual support </a:t>
            </a:r>
            <a:r>
              <a:rPr dirty="0" sz="1600" spc="-15">
                <a:latin typeface="Tahoma"/>
                <a:cs typeface="Tahoma"/>
              </a:rPr>
              <a:t>to </a:t>
            </a:r>
            <a:r>
              <a:rPr dirty="0" sz="1600" spc="10">
                <a:latin typeface="Tahoma"/>
                <a:cs typeface="Tahoma"/>
              </a:rPr>
              <a:t>simplify </a:t>
            </a:r>
            <a:r>
              <a:rPr dirty="0" sz="1600" spc="-15">
                <a:latin typeface="Tahoma"/>
                <a:cs typeface="Tahoma"/>
              </a:rPr>
              <a:t>the </a:t>
            </a:r>
            <a:r>
              <a:rPr dirty="0" sz="1600" spc="-10">
                <a:latin typeface="Tahoma"/>
                <a:cs typeface="Tahoma"/>
              </a:rPr>
              <a:t>experience </a:t>
            </a:r>
            <a:r>
              <a:rPr dirty="0" sz="1600" spc="-5">
                <a:latin typeface="Tahoma"/>
                <a:cs typeface="Tahoma"/>
              </a:rPr>
              <a:t>and </a:t>
            </a:r>
            <a:r>
              <a:rPr dirty="0" sz="160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10">
                <a:latin typeface="Tahoma"/>
                <a:cs typeface="Tahoma"/>
              </a:rPr>
              <a:t>d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10">
                <a:latin typeface="Tahoma"/>
                <a:cs typeface="Tahoma"/>
              </a:rPr>
              <a:t>p</a:t>
            </a:r>
            <a:r>
              <a:rPr dirty="0" sz="1600" spc="-30">
                <a:latin typeface="Tahoma"/>
                <a:cs typeface="Tahoma"/>
              </a:rPr>
              <a:t>ti</a:t>
            </a:r>
            <a:r>
              <a:rPr dirty="0" sz="1600" spc="-55">
                <a:latin typeface="Tahoma"/>
                <a:cs typeface="Tahoma"/>
              </a:rPr>
              <a:t>v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5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o</a:t>
            </a:r>
            <a:r>
              <a:rPr dirty="0" sz="1600" spc="55">
                <a:latin typeface="Tahoma"/>
                <a:cs typeface="Tahoma"/>
              </a:rPr>
              <a:t>ces</a:t>
            </a:r>
            <a:r>
              <a:rPr dirty="0" sz="1600" spc="30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358140" indent="-343535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358140" algn="l"/>
                <a:tab pos="358775" algn="l"/>
              </a:tabLst>
            </a:pPr>
            <a:r>
              <a:rPr dirty="0" u="sng" sz="1600" spc="-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</a:t>
            </a:r>
            <a:r>
              <a:rPr dirty="0" u="sng" sz="1600" spc="-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dirty="0" u="sng" sz="1600" spc="-1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S</a:t>
            </a:r>
            <a:r>
              <a:rPr dirty="0" sz="1600" spc="-5">
                <a:latin typeface="Tahoma"/>
                <a:cs typeface="Tahoma"/>
              </a:rPr>
              <a:t>u</a:t>
            </a:r>
            <a:r>
              <a:rPr dirty="0" sz="1600" spc="5">
                <a:latin typeface="Tahoma"/>
                <a:cs typeface="Tahoma"/>
              </a:rPr>
              <a:t>p</a:t>
            </a:r>
            <a:r>
              <a:rPr dirty="0" sz="1600" spc="15">
                <a:latin typeface="Tahoma"/>
                <a:cs typeface="Tahoma"/>
              </a:rPr>
              <a:t>p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80">
                <a:latin typeface="Tahoma"/>
                <a:cs typeface="Tahoma"/>
              </a:rPr>
              <a:t>y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Chai</a:t>
            </a:r>
            <a:r>
              <a:rPr dirty="0" sz="1600" spc="30">
                <a:latin typeface="Tahoma"/>
                <a:cs typeface="Tahoma"/>
              </a:rPr>
              <a:t>n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Man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35">
                <a:latin typeface="Tahoma"/>
                <a:cs typeface="Tahoma"/>
              </a:rPr>
              <a:t>g</a:t>
            </a:r>
            <a:r>
              <a:rPr dirty="0" sz="1600" spc="5">
                <a:latin typeface="Tahoma"/>
                <a:cs typeface="Tahoma"/>
              </a:rPr>
              <a:t>e</a:t>
            </a:r>
            <a:r>
              <a:rPr dirty="0" sz="1600">
                <a:latin typeface="Tahoma"/>
                <a:cs typeface="Tahoma"/>
              </a:rPr>
              <a:t>m</a:t>
            </a:r>
            <a:r>
              <a:rPr dirty="0" sz="1600" spc="-15">
                <a:latin typeface="Tahoma"/>
                <a:cs typeface="Tahoma"/>
              </a:rPr>
              <a:t>ent</a:t>
            </a:r>
            <a:endParaRPr sz="1600">
              <a:latin typeface="Tahoma"/>
              <a:cs typeface="Tahoma"/>
            </a:endParaRPr>
          </a:p>
          <a:p>
            <a:pPr marL="358140" marR="196215">
              <a:lnSpc>
                <a:spcPct val="100000"/>
              </a:lnSpc>
            </a:pPr>
            <a:r>
              <a:rPr dirty="0" sz="1600" spc="-60" b="1">
                <a:latin typeface="Tahoma"/>
                <a:cs typeface="Tahoma"/>
              </a:rPr>
              <a:t>S</a:t>
            </a:r>
            <a:r>
              <a:rPr dirty="0" sz="1600" spc="-65" b="1">
                <a:latin typeface="Tahoma"/>
                <a:cs typeface="Tahoma"/>
              </a:rPr>
              <a:t>o</a:t>
            </a:r>
            <a:r>
              <a:rPr dirty="0" sz="1600" spc="-40" b="1">
                <a:latin typeface="Tahoma"/>
                <a:cs typeface="Tahoma"/>
              </a:rPr>
              <a:t>l</a:t>
            </a:r>
            <a:r>
              <a:rPr dirty="0" sz="1600" spc="-105" b="1">
                <a:latin typeface="Tahoma"/>
                <a:cs typeface="Tahoma"/>
              </a:rPr>
              <a:t>u</a:t>
            </a:r>
            <a:r>
              <a:rPr dirty="0" sz="1600" spc="-100" b="1">
                <a:latin typeface="Tahoma"/>
                <a:cs typeface="Tahoma"/>
              </a:rPr>
              <a:t>tion</a:t>
            </a:r>
            <a:r>
              <a:rPr dirty="0" sz="1600" spc="-70" b="1">
                <a:latin typeface="Tahoma"/>
                <a:cs typeface="Tahoma"/>
              </a:rPr>
              <a:t>: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-185">
                <a:latin typeface="Tahoma"/>
                <a:cs typeface="Tahoma"/>
              </a:rPr>
              <a:t>I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35">
                <a:latin typeface="Tahoma"/>
                <a:cs typeface="Tahoma"/>
              </a:rPr>
              <a:t>p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5">
                <a:latin typeface="Tahoma"/>
                <a:cs typeface="Tahoma"/>
              </a:rPr>
              <a:t>e</a:t>
            </a:r>
            <a:r>
              <a:rPr dirty="0" sz="1600">
                <a:latin typeface="Tahoma"/>
                <a:cs typeface="Tahoma"/>
              </a:rPr>
              <a:t>m</a:t>
            </a:r>
            <a:r>
              <a:rPr dirty="0" sz="1600" spc="-15">
                <a:latin typeface="Tahoma"/>
                <a:cs typeface="Tahoma"/>
              </a:rPr>
              <a:t>ent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80">
                <a:latin typeface="Tahoma"/>
                <a:cs typeface="Tahoma"/>
              </a:rPr>
              <a:t>r</a:t>
            </a:r>
            <a:r>
              <a:rPr dirty="0" sz="1600" spc="20">
                <a:latin typeface="Tahoma"/>
                <a:cs typeface="Tahoma"/>
              </a:rPr>
              <a:t>ea</a:t>
            </a:r>
            <a:r>
              <a:rPr dirty="0" sz="1600" spc="15">
                <a:latin typeface="Tahoma"/>
                <a:cs typeface="Tahoma"/>
              </a:rPr>
              <a:t>l</a:t>
            </a:r>
            <a:r>
              <a:rPr dirty="0" sz="1600" spc="-45">
                <a:latin typeface="Tahoma"/>
                <a:cs typeface="Tahoma"/>
              </a:rPr>
              <a:t>-</a:t>
            </a:r>
            <a:r>
              <a:rPr dirty="0" sz="1600" spc="-5">
                <a:latin typeface="Tahoma"/>
                <a:cs typeface="Tahoma"/>
              </a:rPr>
              <a:t>tim</a:t>
            </a:r>
            <a:r>
              <a:rPr dirty="0" sz="1600">
                <a:latin typeface="Tahoma"/>
                <a:cs typeface="Tahoma"/>
              </a:rPr>
              <a:t>e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90">
                <a:latin typeface="Tahoma"/>
                <a:cs typeface="Tahoma"/>
              </a:rPr>
              <a:t>r</a:t>
            </a:r>
            <a:r>
              <a:rPr dirty="0" sz="1600" spc="50">
                <a:latin typeface="Tahoma"/>
                <a:cs typeface="Tahoma"/>
              </a:rPr>
              <a:t>a</a:t>
            </a:r>
            <a:r>
              <a:rPr dirty="0" sz="1600" spc="50">
                <a:latin typeface="Tahoma"/>
                <a:cs typeface="Tahoma"/>
              </a:rPr>
              <a:t>c</a:t>
            </a:r>
            <a:r>
              <a:rPr dirty="0" sz="1600" spc="-5">
                <a:latin typeface="Tahoma"/>
                <a:cs typeface="Tahoma"/>
              </a:rPr>
              <a:t>ki</a:t>
            </a:r>
            <a:r>
              <a:rPr dirty="0" sz="1600" spc="-70">
                <a:latin typeface="Tahoma"/>
                <a:cs typeface="Tahoma"/>
              </a:rPr>
              <a:t>n</a:t>
            </a:r>
            <a:r>
              <a:rPr dirty="0" sz="1600" spc="-65">
                <a:latin typeface="Tahoma"/>
                <a:cs typeface="Tahoma"/>
              </a:rPr>
              <a:t>g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</a:t>
            </a:r>
            <a:r>
              <a:rPr dirty="0" sz="1600" spc="-15">
                <a:latin typeface="Tahoma"/>
                <a:cs typeface="Tahoma"/>
              </a:rPr>
              <a:t>n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15">
                <a:latin typeface="Tahoma"/>
                <a:cs typeface="Tahoma"/>
              </a:rPr>
              <a:t>en</a:t>
            </a:r>
            <a:r>
              <a:rPr dirty="0" sz="1600" spc="-30">
                <a:latin typeface="Tahoma"/>
                <a:cs typeface="Tahoma"/>
              </a:rPr>
              <a:t>t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-60">
                <a:latin typeface="Tahoma"/>
                <a:cs typeface="Tahoma"/>
              </a:rPr>
              <a:t>y  </a:t>
            </a:r>
            <a:r>
              <a:rPr dirty="0" sz="1600" spc="-20">
                <a:latin typeface="Tahoma"/>
                <a:cs typeface="Tahoma"/>
              </a:rPr>
              <a:t>management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features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help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artisans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manage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demand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effici</a:t>
            </a:r>
            <a:r>
              <a:rPr dirty="0" sz="1600" spc="-15">
                <a:latin typeface="Tahoma"/>
                <a:cs typeface="Tahoma"/>
              </a:rPr>
              <a:t>ently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ensu</a:t>
            </a:r>
            <a:r>
              <a:rPr dirty="0" sz="1600" spc="-35">
                <a:latin typeface="Tahoma"/>
                <a:cs typeface="Tahoma"/>
              </a:rPr>
              <a:t>r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timel</a:t>
            </a:r>
            <a:r>
              <a:rPr dirty="0" sz="1600" spc="-5">
                <a:latin typeface="Tahoma"/>
                <a:cs typeface="Tahoma"/>
              </a:rPr>
              <a:t>y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d</a:t>
            </a:r>
            <a:r>
              <a:rPr dirty="0" sz="1600" spc="20">
                <a:latin typeface="Tahoma"/>
                <a:cs typeface="Tahoma"/>
              </a:rPr>
              <a:t>el</a:t>
            </a:r>
            <a:r>
              <a:rPr dirty="0" sz="1600" spc="15">
                <a:latin typeface="Tahoma"/>
                <a:cs typeface="Tahoma"/>
              </a:rPr>
              <a:t>i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30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r</a:t>
            </a:r>
            <a:r>
              <a:rPr dirty="0" sz="1600" spc="20">
                <a:latin typeface="Tahoma"/>
                <a:cs typeface="Tahoma"/>
              </a:rPr>
              <a:t>ie</a:t>
            </a:r>
            <a:r>
              <a:rPr dirty="0" sz="1600" spc="5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349" y="783463"/>
            <a:ext cx="1431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Feasibility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7497" y="898397"/>
            <a:ext cx="4564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Potential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challenges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and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solution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10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200"/>
            <a:ext cx="2189606" cy="75333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11044" y="62306"/>
            <a:ext cx="658114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dirty="0" spc="-35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VIABILITY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0349" y="2942082"/>
            <a:ext cx="1239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Viability</a:t>
            </a:r>
            <a:r>
              <a:rPr dirty="0" sz="20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381520" y="3323958"/>
            <a:ext cx="5715000" cy="302641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91440" marR="167005">
              <a:lnSpc>
                <a:spcPts val="1920"/>
              </a:lnSpc>
              <a:spcBef>
                <a:spcPts val="40"/>
              </a:spcBef>
            </a:pPr>
            <a:r>
              <a:rPr dirty="0" sz="1600" spc="-110" b="1">
                <a:latin typeface="Tahoma"/>
                <a:cs typeface="Tahoma"/>
              </a:rPr>
              <a:t>Market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Demand:</a:t>
            </a:r>
            <a:r>
              <a:rPr dirty="0" sz="1600" spc="-100" b="1">
                <a:latin typeface="Tahoma"/>
                <a:cs typeface="Tahoma"/>
              </a:rPr>
              <a:t> </a:t>
            </a:r>
            <a:r>
              <a:rPr dirty="0" sz="1600" spc="-55">
                <a:latin typeface="Tahoma"/>
                <a:cs typeface="Tahoma"/>
              </a:rPr>
              <a:t>There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is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strong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demand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authentic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products </a:t>
            </a:r>
            <a:r>
              <a:rPr dirty="0" sz="1600" spc="-15">
                <a:latin typeface="Tahoma"/>
                <a:cs typeface="Tahoma"/>
              </a:rPr>
              <a:t>with </a:t>
            </a:r>
            <a:r>
              <a:rPr dirty="0" sz="1600" spc="5">
                <a:latin typeface="Tahoma"/>
                <a:cs typeface="Tahoma"/>
              </a:rPr>
              <a:t>assured </a:t>
            </a:r>
            <a:r>
              <a:rPr dirty="0" sz="1600" spc="-5">
                <a:latin typeface="Tahoma"/>
                <a:cs typeface="Tahoma"/>
              </a:rPr>
              <a:t>quality </a:t>
            </a:r>
            <a:r>
              <a:rPr dirty="0" sz="1600" spc="-40">
                <a:latin typeface="Tahoma"/>
                <a:cs typeface="Tahoma"/>
              </a:rPr>
              <a:t>by </a:t>
            </a:r>
            <a:r>
              <a:rPr dirty="0" sz="1600" spc="-310" b="1">
                <a:latin typeface="Tahoma"/>
                <a:cs typeface="Tahoma"/>
              </a:rPr>
              <a:t>73%</a:t>
            </a:r>
            <a:r>
              <a:rPr dirty="0" sz="1600" spc="-305" b="1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of the </a:t>
            </a:r>
            <a:r>
              <a:rPr dirty="0" sz="1600" spc="-35">
                <a:latin typeface="Tahoma"/>
                <a:cs typeface="Tahoma"/>
              </a:rPr>
              <a:t>Indian </a:t>
            </a:r>
            <a:r>
              <a:rPr dirty="0" sz="1600">
                <a:latin typeface="Tahoma"/>
                <a:cs typeface="Tahoma"/>
              </a:rPr>
              <a:t>diaspora 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which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is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-25">
                <a:latin typeface="Tahoma"/>
                <a:cs typeface="Tahoma"/>
              </a:rPr>
              <a:t>er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75" b="1">
                <a:latin typeface="Tahoma"/>
                <a:cs typeface="Tahoma"/>
              </a:rPr>
              <a:t>3</a:t>
            </a:r>
            <a:r>
              <a:rPr dirty="0" sz="1600" spc="-170" b="1">
                <a:latin typeface="Tahoma"/>
                <a:cs typeface="Tahoma"/>
              </a:rPr>
              <a:t>2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130" b="1">
                <a:latin typeface="Tahoma"/>
                <a:cs typeface="Tahoma"/>
              </a:rPr>
              <a:t>m</a:t>
            </a:r>
            <a:r>
              <a:rPr dirty="0" sz="1600" spc="-35" b="1">
                <a:latin typeface="Tahoma"/>
                <a:cs typeface="Tahoma"/>
              </a:rPr>
              <a:t>i</a:t>
            </a:r>
            <a:r>
              <a:rPr dirty="0" sz="1600" spc="-15" b="1">
                <a:latin typeface="Tahoma"/>
                <a:cs typeface="Tahoma"/>
              </a:rPr>
              <a:t>l</a:t>
            </a:r>
            <a:r>
              <a:rPr dirty="0" sz="1600" spc="-25" b="1">
                <a:latin typeface="Tahoma"/>
                <a:cs typeface="Tahoma"/>
              </a:rPr>
              <a:t>l</a:t>
            </a:r>
            <a:r>
              <a:rPr dirty="0" sz="1600" spc="-75" b="1">
                <a:latin typeface="Tahoma"/>
                <a:cs typeface="Tahoma"/>
              </a:rPr>
              <a:t>io</a:t>
            </a:r>
            <a:r>
              <a:rPr dirty="0" sz="1600" spc="-95" b="1">
                <a:latin typeface="Tahoma"/>
                <a:cs typeface="Tahoma"/>
              </a:rPr>
              <a:t>n</a:t>
            </a:r>
            <a:r>
              <a:rPr dirty="0" sz="1600" spc="-25" b="1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91440" marR="287020">
              <a:lnSpc>
                <a:spcPct val="100000"/>
              </a:lnSpc>
              <a:spcBef>
                <a:spcPts val="235"/>
              </a:spcBef>
            </a:pPr>
            <a:r>
              <a:rPr dirty="0" sz="1600" spc="-60" b="1">
                <a:latin typeface="Tahoma"/>
                <a:cs typeface="Tahoma"/>
              </a:rPr>
              <a:t>Economic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-80" b="1">
                <a:latin typeface="Tahoma"/>
                <a:cs typeface="Tahoma"/>
              </a:rPr>
              <a:t>Viability: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artisans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market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is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experiencing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 </a:t>
            </a:r>
            <a:r>
              <a:rPr dirty="0" sz="1600" spc="1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s</a:t>
            </a:r>
            <a:r>
              <a:rPr dirty="0" sz="1600" spc="30">
                <a:latin typeface="Tahoma"/>
                <a:cs typeface="Tahoma"/>
              </a:rPr>
              <a:t>i</a:t>
            </a:r>
            <a:r>
              <a:rPr dirty="0" sz="1600" spc="-70">
                <a:latin typeface="Tahoma"/>
                <a:cs typeface="Tahoma"/>
              </a:rPr>
              <a:t>g</a:t>
            </a:r>
            <a:r>
              <a:rPr dirty="0" sz="1600" spc="-75">
                <a:latin typeface="Tahoma"/>
                <a:cs typeface="Tahoma"/>
              </a:rPr>
              <a:t>n</a:t>
            </a:r>
            <a:r>
              <a:rPr dirty="0" sz="1600" spc="20">
                <a:latin typeface="Tahoma"/>
                <a:cs typeface="Tahoma"/>
              </a:rPr>
              <a:t>ifi</a:t>
            </a:r>
            <a:r>
              <a:rPr dirty="0" sz="1600" spc="30">
                <a:latin typeface="Tahoma"/>
                <a:cs typeface="Tahoma"/>
              </a:rPr>
              <a:t>c</a:t>
            </a:r>
            <a:r>
              <a:rPr dirty="0" sz="1600" spc="-15">
                <a:latin typeface="Tahoma"/>
                <a:cs typeface="Tahoma"/>
              </a:rPr>
              <a:t>an</a:t>
            </a:r>
            <a:r>
              <a:rPr dirty="0" sz="1600" spc="-10">
                <a:latin typeface="Tahoma"/>
                <a:cs typeface="Tahoma"/>
              </a:rPr>
              <a:t>t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100">
                <a:latin typeface="Tahoma"/>
                <a:cs typeface="Tahoma"/>
              </a:rPr>
              <a:t>g</a:t>
            </a:r>
            <a:r>
              <a:rPr dirty="0" sz="1600" spc="-100">
                <a:latin typeface="Tahoma"/>
                <a:cs typeface="Tahoma"/>
              </a:rPr>
              <a:t>r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30">
                <a:latin typeface="Tahoma"/>
                <a:cs typeface="Tahoma"/>
              </a:rPr>
              <a:t>w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20">
                <a:latin typeface="Tahoma"/>
                <a:cs typeface="Tahoma"/>
              </a:rPr>
              <a:t>h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-65">
                <a:latin typeface="Tahoma"/>
                <a:cs typeface="Tahoma"/>
              </a:rPr>
              <a:t>(</a:t>
            </a:r>
            <a:r>
              <a:rPr dirty="0" sz="1600" spc="-110">
                <a:latin typeface="Tahoma"/>
                <a:cs typeface="Tahoma"/>
              </a:rPr>
              <a:t>e</a:t>
            </a:r>
            <a:r>
              <a:rPr dirty="0" sz="1600" spc="-45">
                <a:latin typeface="Tahoma"/>
                <a:cs typeface="Tahoma"/>
              </a:rPr>
              <a:t>x</a:t>
            </a:r>
            <a:r>
              <a:rPr dirty="0" sz="1600" spc="-35">
                <a:latin typeface="Tahoma"/>
                <a:cs typeface="Tahoma"/>
              </a:rPr>
              <a:t>p</a:t>
            </a:r>
            <a:r>
              <a:rPr dirty="0" sz="1600" spc="25">
                <a:latin typeface="Tahoma"/>
                <a:cs typeface="Tahoma"/>
              </a:rPr>
              <a:t>ec</a:t>
            </a:r>
            <a:r>
              <a:rPr dirty="0" sz="1600" spc="5">
                <a:latin typeface="Tahoma"/>
                <a:cs typeface="Tahoma"/>
              </a:rPr>
              <a:t>t</a:t>
            </a:r>
            <a:r>
              <a:rPr dirty="0" sz="1600">
                <a:latin typeface="Tahoma"/>
                <a:cs typeface="Tahoma"/>
              </a:rPr>
              <a:t>ed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20" b="1">
                <a:latin typeface="Tahoma"/>
                <a:cs typeface="Tahoma"/>
              </a:rPr>
              <a:t>r</a:t>
            </a:r>
            <a:r>
              <a:rPr dirty="0" sz="1600" spc="-60" b="1">
                <a:latin typeface="Tahoma"/>
                <a:cs typeface="Tahoma"/>
              </a:rPr>
              <a:t>eac</a:t>
            </a:r>
            <a:r>
              <a:rPr dirty="0" sz="1600" spc="-60" b="1">
                <a:latin typeface="Tahoma"/>
                <a:cs typeface="Tahoma"/>
              </a:rPr>
              <a:t>h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180" b="1">
                <a:latin typeface="Tahoma"/>
                <a:cs typeface="Tahoma"/>
              </a:rPr>
              <a:t>$</a:t>
            </a:r>
            <a:r>
              <a:rPr dirty="0" sz="1600" spc="-114" b="1">
                <a:latin typeface="Tahoma"/>
                <a:cs typeface="Tahoma"/>
              </a:rPr>
              <a:t>5.</a:t>
            </a:r>
            <a:r>
              <a:rPr dirty="0" sz="1600" spc="-145" b="1">
                <a:latin typeface="Tahoma"/>
                <a:cs typeface="Tahoma"/>
              </a:rPr>
              <a:t>8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tril</a:t>
            </a:r>
            <a:r>
              <a:rPr dirty="0" sz="1600" spc="-60" b="1">
                <a:latin typeface="Tahoma"/>
                <a:cs typeface="Tahoma"/>
              </a:rPr>
              <a:t>l</a:t>
            </a:r>
            <a:r>
              <a:rPr dirty="0" sz="1600" spc="-75" b="1">
                <a:latin typeface="Tahoma"/>
                <a:cs typeface="Tahoma"/>
              </a:rPr>
              <a:t>io</a:t>
            </a:r>
            <a:r>
              <a:rPr dirty="0" sz="1600" spc="-95" b="1">
                <a:latin typeface="Tahoma"/>
                <a:cs typeface="Tahoma"/>
              </a:rPr>
              <a:t>n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b</a:t>
            </a:r>
            <a:r>
              <a:rPr dirty="0" sz="1600" spc="-135" b="1">
                <a:latin typeface="Tahoma"/>
                <a:cs typeface="Tahoma"/>
              </a:rPr>
              <a:t>y</a:t>
            </a:r>
            <a:r>
              <a:rPr dirty="0" sz="1600" spc="-155" b="1">
                <a:latin typeface="Tahoma"/>
                <a:cs typeface="Tahoma"/>
              </a:rPr>
              <a:t> </a:t>
            </a:r>
            <a:r>
              <a:rPr dirty="0" sz="1600" spc="-175" b="1">
                <a:latin typeface="Tahoma"/>
                <a:cs typeface="Tahoma"/>
              </a:rPr>
              <a:t>202</a:t>
            </a:r>
            <a:r>
              <a:rPr dirty="0" sz="1600" spc="-165" b="1">
                <a:latin typeface="Tahoma"/>
                <a:cs typeface="Tahoma"/>
              </a:rPr>
              <a:t>7</a:t>
            </a:r>
            <a:r>
              <a:rPr dirty="0" sz="1600" spc="-85">
                <a:latin typeface="Tahoma"/>
                <a:cs typeface="Tahoma"/>
              </a:rPr>
              <a:t>),  </a:t>
            </a:r>
            <a:r>
              <a:rPr dirty="0" sz="1600" spc="-10">
                <a:latin typeface="Tahoma"/>
                <a:cs typeface="Tahoma"/>
              </a:rPr>
              <a:t>utilizing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it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to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cover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development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operational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cost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through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transaction </a:t>
            </a:r>
            <a:r>
              <a:rPr dirty="0" sz="1600" spc="15">
                <a:latin typeface="Tahoma"/>
                <a:cs typeface="Tahoma"/>
              </a:rPr>
              <a:t>cuts, </a:t>
            </a:r>
            <a:r>
              <a:rPr dirty="0" sz="1600" spc="-10">
                <a:latin typeface="Tahoma"/>
                <a:cs typeface="Tahoma"/>
              </a:rPr>
              <a:t>advertisement </a:t>
            </a:r>
            <a:r>
              <a:rPr dirty="0" sz="1600" spc="-5">
                <a:latin typeface="Tahoma"/>
                <a:cs typeface="Tahoma"/>
              </a:rPr>
              <a:t>etc. </a:t>
            </a:r>
            <a:r>
              <a:rPr dirty="0" sz="1600" spc="-15">
                <a:latin typeface="Tahoma"/>
                <a:cs typeface="Tahoma"/>
              </a:rPr>
              <a:t>along with </a:t>
            </a:r>
            <a:r>
              <a:rPr dirty="0" sz="1600">
                <a:latin typeface="Tahoma"/>
                <a:cs typeface="Tahoma"/>
              </a:rPr>
              <a:t>efficient 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20">
                <a:latin typeface="Tahoma"/>
                <a:cs typeface="Tahoma"/>
              </a:rPr>
              <a:t>gi</a:t>
            </a:r>
            <a:r>
              <a:rPr dirty="0" sz="1600" spc="-30">
                <a:latin typeface="Tahoma"/>
                <a:cs typeface="Tahoma"/>
              </a:rPr>
              <a:t>s</a:t>
            </a:r>
            <a:r>
              <a:rPr dirty="0" sz="1600" spc="20">
                <a:latin typeface="Tahoma"/>
                <a:cs typeface="Tahoma"/>
              </a:rPr>
              <a:t>ti</a:t>
            </a:r>
            <a:r>
              <a:rPr dirty="0" sz="1600" spc="40">
                <a:latin typeface="Tahoma"/>
                <a:cs typeface="Tahoma"/>
              </a:rPr>
              <a:t>c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-40">
                <a:latin typeface="Tahoma"/>
                <a:cs typeface="Tahoma"/>
              </a:rPr>
              <a:t>h</a:t>
            </a:r>
            <a:r>
              <a:rPr dirty="0" sz="1600" spc="-6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45">
                <a:latin typeface="Tahoma"/>
                <a:cs typeface="Tahoma"/>
              </a:rPr>
              <a:t>ugh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D</a:t>
            </a:r>
            <a:r>
              <a:rPr dirty="0" sz="1600" spc="-5">
                <a:latin typeface="Tahoma"/>
                <a:cs typeface="Tahoma"/>
              </a:rPr>
              <a:t>o</a:t>
            </a:r>
            <a:r>
              <a:rPr dirty="0" sz="1600" spc="-180">
                <a:latin typeface="Tahoma"/>
                <a:cs typeface="Tahoma"/>
              </a:rPr>
              <a:t>P</a:t>
            </a:r>
            <a:r>
              <a:rPr dirty="0" sz="1600" spc="-3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91440" marR="497205">
              <a:lnSpc>
                <a:spcPct val="100000"/>
              </a:lnSpc>
              <a:spcBef>
                <a:spcPts val="300"/>
              </a:spcBef>
            </a:pPr>
            <a:r>
              <a:rPr dirty="0" sz="1600" spc="-130" b="1">
                <a:latin typeface="Tahoma"/>
                <a:cs typeface="Tahoma"/>
              </a:rPr>
              <a:t>Reg</a:t>
            </a:r>
            <a:r>
              <a:rPr dirty="0" sz="1600" spc="-135" b="1">
                <a:latin typeface="Tahoma"/>
                <a:cs typeface="Tahoma"/>
              </a:rPr>
              <a:t>u</a:t>
            </a:r>
            <a:r>
              <a:rPr dirty="0" sz="1600" spc="-30" b="1">
                <a:latin typeface="Tahoma"/>
                <a:cs typeface="Tahoma"/>
              </a:rPr>
              <a:t>l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120" b="1">
                <a:latin typeface="Tahoma"/>
                <a:cs typeface="Tahoma"/>
              </a:rPr>
              <a:t>t</a:t>
            </a:r>
            <a:r>
              <a:rPr dirty="0" sz="1600" spc="-110" b="1">
                <a:latin typeface="Tahoma"/>
                <a:cs typeface="Tahoma"/>
              </a:rPr>
              <a:t>o</a:t>
            </a:r>
            <a:r>
              <a:rPr dirty="0" sz="1600" spc="-60" b="1">
                <a:latin typeface="Tahoma"/>
                <a:cs typeface="Tahoma"/>
              </a:rPr>
              <a:t>r</a:t>
            </a:r>
            <a:r>
              <a:rPr dirty="0" sz="1600" spc="-135" b="1">
                <a:latin typeface="Tahoma"/>
                <a:cs typeface="Tahoma"/>
              </a:rPr>
              <a:t>y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45" b="1">
                <a:latin typeface="Tahoma"/>
                <a:cs typeface="Tahoma"/>
              </a:rPr>
              <a:t>co</a:t>
            </a:r>
            <a:r>
              <a:rPr dirty="0" sz="1600" spc="-75" b="1">
                <a:latin typeface="Tahoma"/>
                <a:cs typeface="Tahoma"/>
              </a:rPr>
              <a:t>m</a:t>
            </a:r>
            <a:r>
              <a:rPr dirty="0" sz="1600" spc="-65" b="1">
                <a:latin typeface="Tahoma"/>
                <a:cs typeface="Tahoma"/>
              </a:rPr>
              <a:t>pliance</a:t>
            </a:r>
            <a:r>
              <a:rPr dirty="0" sz="1600" spc="-45" b="1">
                <a:latin typeface="Tahoma"/>
                <a:cs typeface="Tahoma"/>
              </a:rPr>
              <a:t>: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185">
                <a:latin typeface="Tahoma"/>
                <a:cs typeface="Tahoma"/>
              </a:rPr>
              <a:t>I</a:t>
            </a:r>
            <a:r>
              <a:rPr dirty="0" sz="1600" spc="-35">
                <a:latin typeface="Tahoma"/>
                <a:cs typeface="Tahoma"/>
              </a:rPr>
              <a:t>n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95">
                <a:latin typeface="Tahoma"/>
                <a:cs typeface="Tahoma"/>
              </a:rPr>
              <a:t>v</a:t>
            </a:r>
            <a:r>
              <a:rPr dirty="0" sz="1600" spc="30">
                <a:latin typeface="Tahoma"/>
                <a:cs typeface="Tahoma"/>
              </a:rPr>
              <a:t>es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70">
                <a:latin typeface="Tahoma"/>
                <a:cs typeface="Tahoma"/>
              </a:rPr>
              <a:t>FD</a:t>
            </a:r>
            <a:r>
              <a:rPr dirty="0" sz="1600" spc="-45">
                <a:latin typeface="Tahoma"/>
                <a:cs typeface="Tahoma"/>
              </a:rPr>
              <a:t>I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-55">
                <a:latin typeface="Tahoma"/>
                <a:cs typeface="Tahoma"/>
              </a:rPr>
              <a:t>e</a:t>
            </a:r>
            <a:r>
              <a:rPr dirty="0" sz="1600" spc="-65">
                <a:latin typeface="Tahoma"/>
                <a:cs typeface="Tahoma"/>
              </a:rPr>
              <a:t>g</a:t>
            </a:r>
            <a:r>
              <a:rPr dirty="0" sz="1600" spc="15">
                <a:latin typeface="Tahoma"/>
                <a:cs typeface="Tahoma"/>
              </a:rPr>
              <a:t>ul</a:t>
            </a:r>
            <a:r>
              <a:rPr dirty="0" sz="1600" spc="10">
                <a:latin typeface="Tahoma"/>
                <a:cs typeface="Tahoma"/>
              </a:rPr>
              <a:t>a</a:t>
            </a:r>
            <a:r>
              <a:rPr dirty="0" sz="1600" spc="-10">
                <a:latin typeface="Tahoma"/>
                <a:cs typeface="Tahoma"/>
              </a:rPr>
              <a:t>tio</a:t>
            </a:r>
            <a:r>
              <a:rPr dirty="0" sz="1600" spc="-15">
                <a:latin typeface="Tahoma"/>
                <a:cs typeface="Tahoma"/>
              </a:rPr>
              <a:t>n</a:t>
            </a:r>
            <a:r>
              <a:rPr dirty="0" sz="1600" spc="40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3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G</a:t>
            </a:r>
            <a:r>
              <a:rPr dirty="0" sz="1600" spc="-15">
                <a:latin typeface="Tahoma"/>
                <a:cs typeface="Tahoma"/>
              </a:rPr>
              <a:t>S</a:t>
            </a:r>
            <a:r>
              <a:rPr dirty="0" sz="1600" spc="-120">
                <a:latin typeface="Tahoma"/>
                <a:cs typeface="Tahoma"/>
              </a:rPr>
              <a:t>T  </a:t>
            </a:r>
            <a:r>
              <a:rPr dirty="0" sz="1600" spc="-25">
                <a:latin typeface="Tahoma"/>
                <a:cs typeface="Tahoma"/>
              </a:rPr>
              <a:t>registration </a:t>
            </a:r>
            <a:r>
              <a:rPr dirty="0" sz="1600">
                <a:latin typeface="Tahoma"/>
                <a:cs typeface="Tahoma"/>
              </a:rPr>
              <a:t>and </a:t>
            </a:r>
            <a:r>
              <a:rPr dirty="0" sz="1600" spc="-180">
                <a:latin typeface="Tahoma"/>
                <a:cs typeface="Tahoma"/>
              </a:rPr>
              <a:t>IT </a:t>
            </a:r>
            <a:r>
              <a:rPr dirty="0" sz="1600" spc="15">
                <a:latin typeface="Tahoma"/>
                <a:cs typeface="Tahoma"/>
              </a:rPr>
              <a:t>Act </a:t>
            </a:r>
            <a:r>
              <a:rPr dirty="0" sz="1600" spc="-5">
                <a:latin typeface="Tahoma"/>
                <a:cs typeface="Tahoma"/>
              </a:rPr>
              <a:t>data protection. Security </a:t>
            </a:r>
            <a:r>
              <a:rPr dirty="0" sz="1600" spc="5">
                <a:latin typeface="Tahoma"/>
                <a:cs typeface="Tahoma"/>
              </a:rPr>
              <a:t>measures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20">
                <a:latin typeface="Tahoma"/>
                <a:cs typeface="Tahoma"/>
              </a:rPr>
              <a:t>include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encryption,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multi-factor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authentication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quality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 spc="30">
                <a:latin typeface="Tahoma"/>
                <a:cs typeface="Tahoma"/>
              </a:rPr>
              <a:t>a</a:t>
            </a:r>
            <a:r>
              <a:rPr dirty="0" sz="1600" spc="35">
                <a:latin typeface="Tahoma"/>
                <a:cs typeface="Tahoma"/>
              </a:rPr>
              <a:t>s</a:t>
            </a:r>
            <a:r>
              <a:rPr dirty="0" sz="1600" spc="5">
                <a:latin typeface="Tahoma"/>
                <a:cs typeface="Tahoma"/>
              </a:rPr>
              <a:t>su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 spc="15">
                <a:latin typeface="Tahoma"/>
                <a:cs typeface="Tahoma"/>
              </a:rPr>
              <a:t>anc</a:t>
            </a:r>
            <a:r>
              <a:rPr dirty="0" sz="1600" spc="20">
                <a:latin typeface="Tahoma"/>
                <a:cs typeface="Tahoma"/>
              </a:rPr>
              <a:t>e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ensu</a:t>
            </a:r>
            <a:r>
              <a:rPr dirty="0" sz="1600" spc="-10">
                <a:latin typeface="Tahoma"/>
                <a:cs typeface="Tahoma"/>
              </a:rPr>
              <a:t>r</a:t>
            </a:r>
            <a:r>
              <a:rPr dirty="0" sz="1600" spc="-40">
                <a:latin typeface="Tahoma"/>
                <a:cs typeface="Tahoma"/>
              </a:rPr>
              <a:t>ing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da</a:t>
            </a:r>
            <a:r>
              <a:rPr dirty="0" sz="1600" spc="-20">
                <a:latin typeface="Tahoma"/>
                <a:cs typeface="Tahoma"/>
              </a:rPr>
              <a:t>t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p</a:t>
            </a:r>
            <a:r>
              <a:rPr dirty="0" sz="1600" spc="-55">
                <a:latin typeface="Tahoma"/>
                <a:cs typeface="Tahoma"/>
              </a:rPr>
              <a:t>r</a:t>
            </a:r>
            <a:r>
              <a:rPr dirty="0" sz="1600" spc="-15">
                <a:latin typeface="Tahoma"/>
                <a:cs typeface="Tahoma"/>
              </a:rPr>
              <a:t>iv</a:t>
            </a:r>
            <a:r>
              <a:rPr dirty="0" sz="1600" spc="-20">
                <a:latin typeface="Tahoma"/>
                <a:cs typeface="Tahoma"/>
              </a:rPr>
              <a:t>a</a:t>
            </a:r>
            <a:r>
              <a:rPr dirty="0" sz="1600" spc="10">
                <a:latin typeface="Tahoma"/>
                <a:cs typeface="Tahoma"/>
              </a:rPr>
              <a:t>cy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bui</a:t>
            </a:r>
            <a:r>
              <a:rPr dirty="0" sz="1600" spc="15">
                <a:latin typeface="Tahoma"/>
                <a:cs typeface="Tahoma"/>
              </a:rPr>
              <a:t>l</a:t>
            </a:r>
            <a:r>
              <a:rPr dirty="0" sz="1600" spc="1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tr</a:t>
            </a:r>
            <a:r>
              <a:rPr dirty="0" sz="1600" spc="-40">
                <a:latin typeface="Tahoma"/>
                <a:cs typeface="Tahoma"/>
              </a:rPr>
              <a:t>u</a:t>
            </a:r>
            <a:r>
              <a:rPr dirty="0" sz="1600" spc="50">
                <a:latin typeface="Tahoma"/>
                <a:cs typeface="Tahoma"/>
              </a:rPr>
              <a:t>s</a:t>
            </a:r>
            <a:r>
              <a:rPr dirty="0" sz="1600" spc="-30">
                <a:latin typeface="Tahoma"/>
                <a:cs typeface="Tahoma"/>
              </a:rPr>
              <a:t>t.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0206" y="13692"/>
            <a:ext cx="1971256" cy="92195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9728" y="1198752"/>
            <a:ext cx="6094095" cy="5072380"/>
          </a:xfrm>
          <a:custGeom>
            <a:avLst/>
            <a:gdLst/>
            <a:ahLst/>
            <a:cxnLst/>
            <a:rect l="l" t="t" r="r" b="b"/>
            <a:pathLst>
              <a:path w="6094095" h="5072380">
                <a:moveTo>
                  <a:pt x="0" y="5072380"/>
                </a:moveTo>
                <a:lnTo>
                  <a:pt x="6093968" y="5072380"/>
                </a:lnTo>
                <a:lnTo>
                  <a:pt x="6093968" y="0"/>
                </a:lnTo>
                <a:lnTo>
                  <a:pt x="0" y="0"/>
                </a:lnTo>
                <a:lnTo>
                  <a:pt x="0" y="507238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8468" y="1208023"/>
            <a:ext cx="5915660" cy="5024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346075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</a:t>
            </a: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rect</a:t>
            </a:r>
            <a:r>
              <a:rPr dirty="0" u="sng" sz="16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Access</a:t>
            </a:r>
            <a:r>
              <a:rPr dirty="0" u="sng" sz="1600" spc="-14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</a:t>
            </a:r>
            <a:r>
              <a:rPr dirty="0" u="sng" sz="1600" spc="-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Authentic</a:t>
            </a:r>
            <a:r>
              <a:rPr dirty="0" u="sng" sz="1600" spc="-13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Products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P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latform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offer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diaspora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international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buyers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easy 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access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to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authentic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products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directly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from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111111"/>
                </a:solidFill>
                <a:latin typeface="Tahoma"/>
                <a:cs typeface="Tahoma"/>
              </a:rPr>
              <a:t>local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artisans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MSMEs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in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India.</a:t>
            </a:r>
            <a:endParaRPr sz="1600">
              <a:latin typeface="Tahoma"/>
              <a:cs typeface="Tahoma"/>
            </a:endParaRPr>
          </a:p>
          <a:p>
            <a:pPr algn="just" marL="299085" marR="168275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Support</a:t>
            </a:r>
            <a:r>
              <a:rPr dirty="0" u="sng" sz="1600" spc="-12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</a:t>
            </a:r>
            <a:r>
              <a:rPr dirty="0" u="sng" sz="1600" spc="-1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5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Local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Artisans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55" b="1"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Empowering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111111"/>
                </a:solidFill>
                <a:latin typeface="Tahoma"/>
                <a:cs typeface="Tahoma"/>
              </a:rPr>
              <a:t>small-scale</a:t>
            </a:r>
            <a:r>
              <a:rPr dirty="0" sz="1600" spc="-20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artisans </a:t>
            </a:r>
            <a:r>
              <a:rPr dirty="0" sz="1600" spc="-4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by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providing</a:t>
            </a:r>
            <a:r>
              <a:rPr dirty="0" sz="1600" spc="-1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them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access</a:t>
            </a:r>
            <a:r>
              <a:rPr dirty="0" sz="1600" spc="-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global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market,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latin typeface="Tahoma"/>
                <a:cs typeface="Tahoma"/>
              </a:rPr>
              <a:t>increasing</a:t>
            </a:r>
            <a:r>
              <a:rPr dirty="0" sz="1600" spc="-160" b="1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the 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105" b="1">
                <a:latin typeface="Tahoma"/>
                <a:cs typeface="Tahoma"/>
              </a:rPr>
              <a:t>nnu</a:t>
            </a:r>
            <a:r>
              <a:rPr dirty="0" sz="1600" spc="-85" b="1">
                <a:latin typeface="Tahoma"/>
                <a:cs typeface="Tahoma"/>
              </a:rPr>
              <a:t>a</a:t>
            </a:r>
            <a:r>
              <a:rPr dirty="0" sz="1600" spc="-15" b="1">
                <a:latin typeface="Tahoma"/>
                <a:cs typeface="Tahoma"/>
              </a:rPr>
              <a:t>l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incom</a:t>
            </a:r>
            <a:r>
              <a:rPr dirty="0" sz="1600" spc="-60" b="1">
                <a:latin typeface="Tahoma"/>
                <a:cs typeface="Tahoma"/>
              </a:rPr>
              <a:t>e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0">
                <a:latin typeface="Tahoma"/>
                <a:cs typeface="Tahoma"/>
              </a:rPr>
              <a:t>f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arti</a:t>
            </a:r>
            <a:r>
              <a:rPr dirty="0" sz="1600" spc="5">
                <a:latin typeface="Tahoma"/>
                <a:cs typeface="Tahoma"/>
              </a:rPr>
              <a:t>s</a:t>
            </a:r>
            <a:r>
              <a:rPr dirty="0" sz="1600" spc="15">
                <a:latin typeface="Tahoma"/>
                <a:cs typeface="Tahoma"/>
              </a:rPr>
              <a:t>an</a:t>
            </a:r>
            <a:r>
              <a:rPr dirty="0" sz="1600" spc="15">
                <a:latin typeface="Tahoma"/>
                <a:cs typeface="Tahoma"/>
              </a:rPr>
              <a:t>s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</a:t>
            </a:r>
            <a:r>
              <a:rPr dirty="0" sz="1600" spc="-80">
                <a:latin typeface="Tahoma"/>
                <a:cs typeface="Tahoma"/>
              </a:rPr>
              <a:t>y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-175" b="1">
                <a:latin typeface="Tahoma"/>
                <a:cs typeface="Tahoma"/>
              </a:rPr>
              <a:t>25</a:t>
            </a:r>
            <a:r>
              <a:rPr dirty="0" sz="1600" spc="-155" b="1">
                <a:latin typeface="Tahoma"/>
                <a:cs typeface="Tahoma"/>
              </a:rPr>
              <a:t>-</a:t>
            </a:r>
            <a:r>
              <a:rPr dirty="0" sz="1600" spc="-305" b="1">
                <a:latin typeface="Tahoma"/>
                <a:cs typeface="Tahoma"/>
              </a:rPr>
              <a:t>50%</a:t>
            </a:r>
            <a:endParaRPr sz="1600">
              <a:latin typeface="Tahoma"/>
              <a:cs typeface="Tahoma"/>
            </a:endParaRPr>
          </a:p>
          <a:p>
            <a:pPr algn="just" marL="299085" marR="9652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40360" algn="l"/>
              </a:tabLst>
            </a:pPr>
            <a:r>
              <a:rPr dirty="0"/>
              <a:t>	</a:t>
            </a:r>
            <a:r>
              <a:rPr dirty="0" u="sng" sz="1600" spc="-9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Standardized </a:t>
            </a:r>
            <a:r>
              <a:rPr dirty="0" u="sng" sz="1600" spc="-9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Shipping </a:t>
            </a:r>
            <a:r>
              <a:rPr dirty="0" u="sng" sz="1600" spc="-9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and </a:t>
            </a:r>
            <a:r>
              <a:rPr dirty="0" u="sng" sz="1600" spc="-8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Ǫuality </a:t>
            </a:r>
            <a:r>
              <a:rPr dirty="0" u="sng" sz="1600" spc="-6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Tahoma"/>
                <a:cs typeface="Tahoma"/>
              </a:rPr>
              <a:t>Control</a:t>
            </a:r>
            <a:r>
              <a:rPr dirty="0" sz="1600" spc="-6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111111"/>
                </a:solidFill>
                <a:latin typeface="Tahoma"/>
                <a:cs typeface="Tahoma"/>
              </a:rPr>
              <a:t>: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Guarantees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fair,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cheaper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40" b="1">
                <a:solidFill>
                  <a:srgbClr val="111111"/>
                </a:solidFill>
                <a:latin typeface="Tahoma"/>
                <a:cs typeface="Tahoma"/>
              </a:rPr>
              <a:t>(30-40%</a:t>
            </a:r>
            <a:r>
              <a:rPr dirty="0" sz="1600" spc="-13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70" b="1">
                <a:solidFill>
                  <a:srgbClr val="111111"/>
                </a:solidFill>
                <a:latin typeface="Tahoma"/>
                <a:cs typeface="Tahoma"/>
              </a:rPr>
              <a:t>less)</a:t>
            </a:r>
            <a:r>
              <a:rPr dirty="0" sz="1600" spc="-12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transparent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shipping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costs.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111111"/>
                </a:solidFill>
                <a:latin typeface="Tahoma"/>
                <a:cs typeface="Tahoma"/>
              </a:rPr>
              <a:t>Thorough </a:t>
            </a:r>
            <a:r>
              <a:rPr dirty="0" sz="1600" spc="-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qua</a:t>
            </a:r>
            <a:r>
              <a:rPr dirty="0" sz="1600" spc="4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ity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111111"/>
                </a:solidFill>
                <a:latin typeface="Tahoma"/>
                <a:cs typeface="Tahoma"/>
              </a:rPr>
              <a:t>check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ensu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ing</a:t>
            </a:r>
            <a:r>
              <a:rPr dirty="0" sz="1600" spc="-1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8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duct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ee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6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hig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h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d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35">
                <a:solidFill>
                  <a:srgbClr val="111111"/>
                </a:solidFill>
                <a:latin typeface="Tahoma"/>
                <a:cs typeface="Tahoma"/>
              </a:rPr>
              <a:t>ds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  </a:t>
            </a:r>
            <a:r>
              <a:rPr dirty="0" sz="1600" spc="55">
                <a:solidFill>
                  <a:srgbClr val="111111"/>
                </a:solidFill>
                <a:latin typeface="Tahoma"/>
                <a:cs typeface="Tahoma"/>
              </a:rPr>
              <a:t>cu</a:t>
            </a:r>
            <a:r>
              <a:rPr dirty="0" sz="1600" spc="35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er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satis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c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34290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5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Seamless</a:t>
            </a:r>
            <a:r>
              <a:rPr dirty="0" u="sng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User</a:t>
            </a:r>
            <a:r>
              <a:rPr dirty="0" u="sng" sz="1600" spc="-15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8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Experience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: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15">
                <a:latin typeface="Tahoma"/>
                <a:cs typeface="Tahoma"/>
              </a:rPr>
              <a:t>Simple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convenient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way</a:t>
            </a:r>
            <a:r>
              <a:rPr dirty="0" sz="1600" spc="-18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for </a:t>
            </a:r>
            <a:r>
              <a:rPr dirty="0" sz="1600" spc="-48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use</a:t>
            </a:r>
            <a:r>
              <a:rPr dirty="0" sz="1600" spc="-20">
                <a:latin typeface="Tahoma"/>
                <a:cs typeface="Tahoma"/>
              </a:rPr>
              <a:t>r</a:t>
            </a:r>
            <a:r>
              <a:rPr dirty="0" sz="1600" spc="60">
                <a:latin typeface="Tahoma"/>
                <a:cs typeface="Tahoma"/>
              </a:rPr>
              <a:t>s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b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55">
                <a:latin typeface="Tahoma"/>
                <a:cs typeface="Tahoma"/>
              </a:rPr>
              <a:t>w</a:t>
            </a:r>
            <a:r>
              <a:rPr dirty="0" sz="1600" spc="25">
                <a:latin typeface="Tahoma"/>
                <a:cs typeface="Tahoma"/>
              </a:rPr>
              <a:t>s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,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pu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40">
                <a:latin typeface="Tahoma"/>
                <a:cs typeface="Tahoma"/>
              </a:rPr>
              <a:t>cha</a:t>
            </a:r>
            <a:r>
              <a:rPr dirty="0" sz="1600" spc="40">
                <a:latin typeface="Tahoma"/>
                <a:cs typeface="Tahoma"/>
              </a:rPr>
              <a:t>s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5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an</a:t>
            </a:r>
            <a:r>
              <a:rPr dirty="0" sz="1600">
                <a:latin typeface="Tahoma"/>
                <a:cs typeface="Tahoma"/>
              </a:rPr>
              <a:t>d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ecei</a:t>
            </a:r>
            <a:r>
              <a:rPr dirty="0" sz="1600" spc="-10">
                <a:latin typeface="Tahoma"/>
                <a:cs typeface="Tahoma"/>
              </a:rPr>
              <a:t>v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-90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10">
                <a:latin typeface="Tahoma"/>
                <a:cs typeface="Tahoma"/>
              </a:rPr>
              <a:t>d</a:t>
            </a:r>
            <a:r>
              <a:rPr dirty="0" sz="1600">
                <a:latin typeface="Tahoma"/>
                <a:cs typeface="Tahoma"/>
              </a:rPr>
              <a:t>it</a:t>
            </a:r>
            <a:r>
              <a:rPr dirty="0" sz="1600" spc="5">
                <a:latin typeface="Tahoma"/>
                <a:cs typeface="Tahoma"/>
              </a:rPr>
              <a:t>i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10">
                <a:latin typeface="Tahoma"/>
                <a:cs typeface="Tahoma"/>
              </a:rPr>
              <a:t>na</a:t>
            </a:r>
            <a:r>
              <a:rPr dirty="0" sz="1600" spc="5">
                <a:latin typeface="Tahoma"/>
                <a:cs typeface="Tahoma"/>
              </a:rPr>
              <a:t>l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20">
                <a:latin typeface="Tahoma"/>
                <a:cs typeface="Tahoma"/>
              </a:rPr>
              <a:t>duc</a:t>
            </a:r>
            <a:r>
              <a:rPr dirty="0" sz="1600" spc="5">
                <a:latin typeface="Tahoma"/>
                <a:cs typeface="Tahoma"/>
              </a:rPr>
              <a:t>t</a:t>
            </a:r>
            <a:r>
              <a:rPr dirty="0" sz="1600" spc="45">
                <a:latin typeface="Tahoma"/>
                <a:cs typeface="Tahoma"/>
              </a:rPr>
              <a:t>s  </a:t>
            </a:r>
            <a:r>
              <a:rPr dirty="0" sz="1600" spc="-20">
                <a:latin typeface="Tahoma"/>
                <a:cs typeface="Tahoma"/>
              </a:rPr>
              <a:t>globally,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building</a:t>
            </a:r>
            <a:r>
              <a:rPr dirty="0" sz="1600" spc="-16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a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strong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emotional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10">
                <a:latin typeface="Tahoma"/>
                <a:cs typeface="Tahoma"/>
              </a:rPr>
              <a:t>connection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with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India.</a:t>
            </a:r>
            <a:endParaRPr sz="1600">
              <a:latin typeface="Tahoma"/>
              <a:cs typeface="Tahoma"/>
            </a:endParaRPr>
          </a:p>
          <a:p>
            <a:pPr marL="299085" marR="5080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Enhanced </a:t>
            </a:r>
            <a:r>
              <a:rPr dirty="0" u="sng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Trust </a:t>
            </a: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and </a:t>
            </a:r>
            <a:r>
              <a:rPr dirty="0" u="sng" sz="16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Transparency</a:t>
            </a:r>
            <a:r>
              <a:rPr dirty="0" sz="1600" spc="-100" b="1">
                <a:latin typeface="Tahoma"/>
                <a:cs typeface="Tahoma"/>
              </a:rPr>
              <a:t>: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More than </a:t>
            </a:r>
            <a:r>
              <a:rPr dirty="0" sz="1600" spc="-310" b="1">
                <a:solidFill>
                  <a:srgbClr val="111111"/>
                </a:solidFill>
                <a:latin typeface="Tahoma"/>
                <a:cs typeface="Tahoma"/>
              </a:rPr>
              <a:t>60%</a:t>
            </a:r>
            <a:r>
              <a:rPr dirty="0" sz="1600" spc="-30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of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diaspora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buyers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report</a:t>
            </a:r>
            <a:r>
              <a:rPr dirty="0" sz="1600" spc="-1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concerns</a:t>
            </a:r>
            <a:r>
              <a:rPr dirty="0" sz="1600" spc="-1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about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product</a:t>
            </a:r>
            <a:r>
              <a:rPr dirty="0" sz="1600" spc="-13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authenticity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quality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when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purchasing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Indian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goods.</a:t>
            </a:r>
            <a:r>
              <a:rPr dirty="0" sz="1600" spc="-1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platform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fosters</a:t>
            </a:r>
            <a:r>
              <a:rPr dirty="0" sz="1600" spc="-13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trust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th</a:t>
            </a:r>
            <a:r>
              <a:rPr dirty="0" sz="1600" spc="-6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60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dirty="0" sz="1600" spc="-70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h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-10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an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7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ent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95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em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 b="1">
                <a:solidFill>
                  <a:srgbClr val="111111"/>
                </a:solidFill>
                <a:latin typeface="Tahoma"/>
                <a:cs typeface="Tahoma"/>
              </a:rPr>
              <a:t>se</a:t>
            </a:r>
            <a:r>
              <a:rPr dirty="0" sz="1600" spc="-15" b="1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25" b="1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105" b="1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75" b="1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14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0" b="1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dirty="0" sz="1600" spc="-85" b="1">
                <a:solidFill>
                  <a:srgbClr val="111111"/>
                </a:solidFill>
                <a:latin typeface="Tahoma"/>
                <a:cs typeface="Tahoma"/>
              </a:rPr>
              <a:t>eri</a:t>
            </a:r>
            <a:r>
              <a:rPr dirty="0" sz="1600" spc="-65" b="1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dirty="0" sz="1600" spc="-15" b="1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dirty="0" sz="1600" spc="-25" b="1">
                <a:solidFill>
                  <a:srgbClr val="111111"/>
                </a:solidFill>
                <a:latin typeface="Tahoma"/>
                <a:cs typeface="Tahoma"/>
              </a:rPr>
              <a:t>c</a:t>
            </a:r>
            <a:r>
              <a:rPr dirty="0" sz="1600" spc="-100" b="1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80" b="1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dirty="0" sz="1600" spc="-105" b="1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dirty="0" sz="1600" spc="-90" b="1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85" b="1">
                <a:solidFill>
                  <a:srgbClr val="111111"/>
                </a:solidFill>
                <a:latin typeface="Tahoma"/>
                <a:cs typeface="Tahoma"/>
              </a:rPr>
              <a:t>od</a:t>
            </a:r>
            <a:r>
              <a:rPr dirty="0" sz="1600" spc="-95" b="1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dirty="0" sz="1600" spc="-30" b="1">
                <a:solidFill>
                  <a:srgbClr val="111111"/>
                </a:solidFill>
                <a:latin typeface="Tahoma"/>
                <a:cs typeface="Tahoma"/>
              </a:rPr>
              <a:t>ct  </a:t>
            </a:r>
            <a:r>
              <a:rPr dirty="0" sz="1600" spc="-80" b="1">
                <a:solidFill>
                  <a:srgbClr val="111111"/>
                </a:solidFill>
                <a:latin typeface="Tahoma"/>
                <a:cs typeface="Tahoma"/>
              </a:rPr>
              <a:t>quality</a:t>
            </a:r>
            <a:r>
              <a:rPr dirty="0" sz="1600" spc="-12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40" b="1">
                <a:solidFill>
                  <a:srgbClr val="111111"/>
                </a:solidFill>
                <a:latin typeface="Tahoma"/>
                <a:cs typeface="Tahoma"/>
              </a:rPr>
              <a:t>checks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dirty="0" sz="1600" spc="-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65" b="1">
                <a:solidFill>
                  <a:srgbClr val="111111"/>
                </a:solidFill>
                <a:latin typeface="Tahoma"/>
                <a:cs typeface="Tahoma"/>
              </a:rPr>
              <a:t>reliable</a:t>
            </a:r>
            <a:r>
              <a:rPr dirty="0" sz="1600" spc="-135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111111"/>
                </a:solidFill>
                <a:latin typeface="Tahoma"/>
                <a:cs typeface="Tahoma"/>
              </a:rPr>
              <a:t>buyer</a:t>
            </a:r>
            <a:r>
              <a:rPr dirty="0" sz="1600" spc="-15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65" b="1">
                <a:solidFill>
                  <a:srgbClr val="111111"/>
                </a:solidFill>
                <a:latin typeface="Tahoma"/>
                <a:cs typeface="Tahoma"/>
              </a:rPr>
              <a:t>feedback</a:t>
            </a:r>
            <a:r>
              <a:rPr dirty="0" sz="1600" spc="-65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1292" y="1191513"/>
            <a:ext cx="5629275" cy="5077460"/>
          </a:xfrm>
          <a:custGeom>
            <a:avLst/>
            <a:gdLst/>
            <a:ahLst/>
            <a:cxnLst/>
            <a:rect l="l" t="t" r="r" b="b"/>
            <a:pathLst>
              <a:path w="5629275" h="5077460">
                <a:moveTo>
                  <a:pt x="0" y="5076952"/>
                </a:moveTo>
                <a:lnTo>
                  <a:pt x="5629020" y="5076952"/>
                </a:lnTo>
                <a:lnTo>
                  <a:pt x="5629020" y="0"/>
                </a:lnTo>
                <a:lnTo>
                  <a:pt x="0" y="0"/>
                </a:lnTo>
                <a:lnTo>
                  <a:pt x="0" y="507695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60921" y="1202817"/>
            <a:ext cx="5464175" cy="5024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12700" indent="-28702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6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Economic 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Impact: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Increases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annual 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income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of </a:t>
            </a:r>
            <a:r>
              <a:rPr dirty="0" sz="1600" spc="35">
                <a:solidFill>
                  <a:srgbClr val="111111"/>
                </a:solidFill>
                <a:latin typeface="Tahoma"/>
                <a:cs typeface="Tahoma"/>
              </a:rPr>
              <a:t>local </a:t>
            </a:r>
            <a:r>
              <a:rPr dirty="0" sz="1600" spc="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artisans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MSMEs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by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40" b="1">
                <a:latin typeface="Tahoma"/>
                <a:cs typeface="Tahoma"/>
              </a:rPr>
              <a:t>25-50%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decreasing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price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the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customers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by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40" b="1">
                <a:latin typeface="Tahoma"/>
                <a:cs typeface="Tahoma"/>
              </a:rPr>
              <a:t>30-50%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with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the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help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of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50">
                <a:latin typeface="Tahoma"/>
                <a:cs typeface="Tahoma"/>
              </a:rPr>
              <a:t>DOP</a:t>
            </a:r>
            <a:r>
              <a:rPr dirty="0" sz="1600" spc="-50">
                <a:solidFill>
                  <a:srgbClr val="111111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127635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Cultural</a:t>
            </a:r>
            <a:r>
              <a:rPr dirty="0" u="sng" sz="1600" spc="-114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Impact: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Preserves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traditional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crafts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heritage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while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elevating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global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awareness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of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Indian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craftsmanship.</a:t>
            </a:r>
            <a:endParaRPr sz="1600">
              <a:latin typeface="Tahoma"/>
              <a:cs typeface="Tahoma"/>
            </a:endParaRPr>
          </a:p>
          <a:p>
            <a:pPr marL="299085" marR="9525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39725" algn="l"/>
                <a:tab pos="340360" algn="l"/>
              </a:tabLst>
            </a:pPr>
            <a:r>
              <a:rPr dirty="0"/>
              <a:t>	</a:t>
            </a:r>
            <a:r>
              <a:rPr dirty="0" u="sng" sz="1600" spc="-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Technological 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</a:t>
            </a:r>
            <a:r>
              <a:rPr dirty="0" sz="1600" spc="-110" b="1">
                <a:latin typeface="Tahoma"/>
                <a:cs typeface="Tahoma"/>
              </a:rPr>
              <a:t>: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Revolutionizes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e-commerce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with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5">
                <a:solidFill>
                  <a:srgbClr val="111111"/>
                </a:solidFill>
                <a:latin typeface="Tahoma"/>
                <a:cs typeface="Tahoma"/>
              </a:rPr>
              <a:t>AI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and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ML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for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personalized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experiences,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while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delivering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data-driven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insights</a:t>
            </a:r>
            <a:r>
              <a:rPr dirty="0" sz="1600" spc="-1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that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empower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sellers</a:t>
            </a:r>
            <a:r>
              <a:rPr dirty="0" sz="1600" spc="-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optimize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their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products.</a:t>
            </a:r>
            <a:r>
              <a:rPr dirty="0" sz="160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299085" marR="109220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5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Global </a:t>
            </a:r>
            <a:r>
              <a:rPr dirty="0" u="sng" sz="1600" spc="-11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Impact </a:t>
            </a:r>
            <a:r>
              <a:rPr dirty="0" sz="1600" spc="-105" b="1">
                <a:latin typeface="Tahoma"/>
                <a:cs typeface="Tahoma"/>
              </a:rPr>
              <a:t>: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Indian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handicrafts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exports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are </a:t>
            </a:r>
            <a:r>
              <a:rPr dirty="0" sz="1600" spc="-50">
                <a:solidFill>
                  <a:srgbClr val="111111"/>
                </a:solidFill>
                <a:latin typeface="Tahoma"/>
                <a:cs typeface="Tahoma"/>
              </a:rPr>
              <a:t>growing, </a:t>
            </a:r>
            <a:r>
              <a:rPr dirty="0" sz="1600" spc="-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with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rate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111111"/>
                </a:solidFill>
                <a:latin typeface="Tahoma"/>
                <a:cs typeface="Tahoma"/>
              </a:rPr>
              <a:t>of</a:t>
            </a:r>
            <a:r>
              <a:rPr dirty="0" sz="1600" spc="-15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25" b="1">
                <a:solidFill>
                  <a:srgbClr val="111111"/>
                </a:solidFill>
                <a:latin typeface="Tahoma"/>
                <a:cs typeface="Tahoma"/>
              </a:rPr>
              <a:t>25.7%</a:t>
            </a:r>
            <a:r>
              <a:rPr dirty="0" sz="1600" spc="-140" b="1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year-over-year.</a:t>
            </a:r>
            <a:r>
              <a:rPr dirty="0" sz="1600" spc="-12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Through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our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platform </a:t>
            </a:r>
            <a:r>
              <a:rPr dirty="0" sz="1600" spc="-484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w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wi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4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19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b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dirty="0" sz="1600" spc="-7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m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tin</a:t>
            </a:r>
            <a:r>
              <a:rPr dirty="0" sz="1600" spc="-45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85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ndi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’</a:t>
            </a:r>
            <a:r>
              <a:rPr dirty="0" sz="1600" spc="6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cultu</a:t>
            </a:r>
            <a:r>
              <a:rPr dirty="0" sz="1600" spc="-4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35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p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20">
                <a:solidFill>
                  <a:srgbClr val="111111"/>
                </a:solidFill>
                <a:latin typeface="Tahoma"/>
                <a:cs typeface="Tahoma"/>
              </a:rPr>
              <a:t>duc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6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globa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4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8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endParaRPr sz="1600">
              <a:latin typeface="Tahoma"/>
              <a:cs typeface="Tahoma"/>
            </a:endParaRPr>
          </a:p>
          <a:p>
            <a:pPr marL="299085" marR="5080">
              <a:lnSpc>
                <a:spcPct val="100000"/>
              </a:lnSpc>
            </a:pPr>
            <a:r>
              <a:rPr dirty="0" sz="1600">
                <a:solidFill>
                  <a:srgbClr val="111111"/>
                </a:solidFill>
                <a:latin typeface="Tahoma"/>
                <a:cs typeface="Tahoma"/>
              </a:rPr>
              <a:t>imp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50">
                <a:solidFill>
                  <a:srgbClr val="111111"/>
                </a:solidFill>
                <a:latin typeface="Tahoma"/>
                <a:cs typeface="Tahoma"/>
              </a:rPr>
              <a:t>vin</a:t>
            </a:r>
            <a:r>
              <a:rPr dirty="0" sz="1600" spc="-60">
                <a:solidFill>
                  <a:srgbClr val="111111"/>
                </a:solidFill>
                <a:latin typeface="Tahoma"/>
                <a:cs typeface="Tahoma"/>
              </a:rPr>
              <a:t>g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th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18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c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u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6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’</a:t>
            </a:r>
            <a:r>
              <a:rPr dirty="0" sz="1600" spc="6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-12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epu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tio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n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111111"/>
                </a:solidFill>
                <a:latin typeface="Tahoma"/>
                <a:cs typeface="Tahoma"/>
              </a:rPr>
              <a:t>f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o</a:t>
            </a:r>
            <a:r>
              <a:rPr dirty="0" sz="1600" spc="-45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111111"/>
                </a:solidFill>
                <a:latin typeface="Tahoma"/>
                <a:cs typeface="Tahoma"/>
              </a:rPr>
              <a:t>qua</a:t>
            </a:r>
            <a:r>
              <a:rPr dirty="0" sz="1600" spc="45">
                <a:solidFill>
                  <a:srgbClr val="111111"/>
                </a:solidFill>
                <a:latin typeface="Tahoma"/>
                <a:cs typeface="Tahoma"/>
              </a:rPr>
              <a:t>l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it</a:t>
            </a:r>
            <a:r>
              <a:rPr dirty="0" sz="1600" spc="-200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dirty="0" sz="1600" spc="-15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111111"/>
                </a:solidFill>
                <a:latin typeface="Tahoma"/>
                <a:cs typeface="Tahoma"/>
              </a:rPr>
              <a:t>d</a:t>
            </a:r>
            <a:r>
              <a:rPr dirty="0" sz="1600" spc="1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dirty="0" sz="1600" spc="-95">
                <a:solidFill>
                  <a:srgbClr val="111111"/>
                </a:solidFill>
                <a:latin typeface="Tahoma"/>
                <a:cs typeface="Tahoma"/>
              </a:rPr>
              <a:t>v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dirty="0" sz="1600" spc="-4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dirty="0" sz="1600" spc="50">
                <a:solidFill>
                  <a:srgbClr val="111111"/>
                </a:solidFill>
                <a:latin typeface="Tahoma"/>
                <a:cs typeface="Tahoma"/>
              </a:rPr>
              <a:t>s</a:t>
            </a:r>
            <a:r>
              <a:rPr dirty="0" sz="1600" spc="30">
                <a:solidFill>
                  <a:srgbClr val="111111"/>
                </a:solidFill>
                <a:latin typeface="Tahoma"/>
                <a:cs typeface="Tahoma"/>
              </a:rPr>
              <a:t>i</a:t>
            </a:r>
            <a:r>
              <a:rPr dirty="0" sz="1600" spc="-25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dirty="0" sz="1600" spc="-204">
                <a:solidFill>
                  <a:srgbClr val="111111"/>
                </a:solidFill>
                <a:latin typeface="Tahoma"/>
                <a:cs typeface="Tahoma"/>
              </a:rPr>
              <a:t>y</a:t>
            </a:r>
            <a:r>
              <a:rPr dirty="0" sz="1600" spc="-30">
                <a:solidFill>
                  <a:srgbClr val="111111"/>
                </a:solidFill>
                <a:latin typeface="Tahoma"/>
                <a:cs typeface="Tahoma"/>
              </a:rPr>
              <a:t>,</a:t>
            </a:r>
            <a:r>
              <a:rPr dirty="0" sz="1600" spc="-17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and 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heritage,</a:t>
            </a:r>
            <a:r>
              <a:rPr dirty="0" sz="1600" spc="-14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enhancing</a:t>
            </a:r>
            <a:r>
              <a:rPr dirty="0" sz="1600" spc="-21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“Brand</a:t>
            </a:r>
            <a:r>
              <a:rPr dirty="0" sz="1600" spc="-15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111111"/>
                </a:solidFill>
                <a:latin typeface="Tahoma"/>
                <a:cs typeface="Tahoma"/>
              </a:rPr>
              <a:t>India”</a:t>
            </a:r>
            <a:r>
              <a:rPr dirty="0" sz="1600" spc="-24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111111"/>
                </a:solidFill>
                <a:latin typeface="Tahoma"/>
                <a:cs typeface="Tahoma"/>
              </a:rPr>
              <a:t>on</a:t>
            </a:r>
            <a:r>
              <a:rPr dirty="0" sz="1600" spc="-16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111111"/>
                </a:solidFill>
                <a:latin typeface="Tahoma"/>
                <a:cs typeface="Tahoma"/>
              </a:rPr>
              <a:t>the</a:t>
            </a:r>
            <a:r>
              <a:rPr dirty="0" sz="1600" spc="-17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Tahoma"/>
                <a:cs typeface="Tahoma"/>
              </a:rPr>
              <a:t>world</a:t>
            </a:r>
            <a:r>
              <a:rPr dirty="0" sz="1600" spc="-165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111111"/>
                </a:solidFill>
                <a:latin typeface="Tahoma"/>
                <a:cs typeface="Tahoma"/>
              </a:rPr>
              <a:t>stage.</a:t>
            </a:r>
            <a:endParaRPr sz="1600">
              <a:latin typeface="Tahoma"/>
              <a:cs typeface="Tahoma"/>
            </a:endParaRPr>
          </a:p>
          <a:p>
            <a:pPr marL="299085" marR="6350" indent="-28702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299720" algn="l"/>
              </a:tabLst>
            </a:pP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dirty="0" u="sng" sz="16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dirty="0" u="sng" sz="1600" spc="-13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</a:t>
            </a: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dirty="0" u="sng" sz="1600" spc="-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dirty="0" u="sng" sz="1600" spc="-8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on</a:t>
            </a:r>
            <a:r>
              <a:rPr dirty="0" u="sng" sz="1600" spc="-1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ent</a:t>
            </a:r>
            <a:r>
              <a:rPr dirty="0" u="sng" sz="1600" spc="-1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</a:t>
            </a:r>
            <a:r>
              <a:rPr dirty="0" u="sng" sz="1600" spc="-13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600" spc="-14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</a:t>
            </a:r>
            <a:r>
              <a:rPr dirty="0" u="sng" sz="1600" spc="-14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1600" spc="-3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ct</a:t>
            </a:r>
            <a:r>
              <a:rPr dirty="0" u="sng" sz="1600" spc="-10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:</a:t>
            </a:r>
            <a:r>
              <a:rPr dirty="0" u="sng" sz="1600" spc="-12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sz="1600" spc="25">
                <a:latin typeface="Tahoma"/>
                <a:cs typeface="Tahoma"/>
              </a:rPr>
              <a:t>P</a:t>
            </a:r>
            <a:r>
              <a:rPr dirty="0" sz="1600" spc="-75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10">
                <a:latin typeface="Tahoma"/>
                <a:cs typeface="Tahoma"/>
              </a:rPr>
              <a:t>m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30">
                <a:latin typeface="Tahoma"/>
                <a:cs typeface="Tahoma"/>
              </a:rPr>
              <a:t>es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su</a:t>
            </a:r>
            <a:r>
              <a:rPr dirty="0" sz="1600" spc="25">
                <a:latin typeface="Tahoma"/>
                <a:cs typeface="Tahoma"/>
              </a:rPr>
              <a:t>s</a:t>
            </a:r>
            <a:r>
              <a:rPr dirty="0" sz="1600" spc="-35">
                <a:latin typeface="Tahoma"/>
                <a:cs typeface="Tahoma"/>
              </a:rPr>
              <a:t>t</a:t>
            </a:r>
            <a:r>
              <a:rPr dirty="0" sz="1600" spc="10">
                <a:latin typeface="Tahoma"/>
                <a:cs typeface="Tahoma"/>
              </a:rPr>
              <a:t>a</a:t>
            </a:r>
            <a:r>
              <a:rPr dirty="0" sz="1600" spc="5">
                <a:latin typeface="Tahoma"/>
                <a:cs typeface="Tahoma"/>
              </a:rPr>
              <a:t>i</a:t>
            </a:r>
            <a:r>
              <a:rPr dirty="0" sz="1600" spc="-5">
                <a:latin typeface="Tahoma"/>
                <a:cs typeface="Tahoma"/>
              </a:rPr>
              <a:t>na</a:t>
            </a:r>
            <a:r>
              <a:rPr dirty="0" sz="1600">
                <a:latin typeface="Tahoma"/>
                <a:cs typeface="Tahoma"/>
              </a:rPr>
              <a:t>b</a:t>
            </a:r>
            <a:r>
              <a:rPr dirty="0" sz="1600" spc="45">
                <a:latin typeface="Tahoma"/>
                <a:cs typeface="Tahoma"/>
              </a:rPr>
              <a:t>l</a:t>
            </a:r>
            <a:r>
              <a:rPr dirty="0" sz="1600" spc="-55">
                <a:latin typeface="Tahoma"/>
                <a:cs typeface="Tahoma"/>
              </a:rPr>
              <a:t>e</a:t>
            </a:r>
            <a:r>
              <a:rPr dirty="0" sz="1600" spc="-30">
                <a:latin typeface="Tahoma"/>
                <a:cs typeface="Tahoma"/>
              </a:rPr>
              <a:t>,  </a:t>
            </a:r>
            <a:r>
              <a:rPr dirty="0" sz="1600" spc="-10">
                <a:latin typeface="Tahoma"/>
                <a:cs typeface="Tahoma"/>
              </a:rPr>
              <a:t>handcrafted </a:t>
            </a:r>
            <a:r>
              <a:rPr dirty="0" sz="1600">
                <a:latin typeface="Tahoma"/>
                <a:cs typeface="Tahoma"/>
              </a:rPr>
              <a:t>products. </a:t>
            </a:r>
            <a:r>
              <a:rPr dirty="0" sz="1600" spc="-55">
                <a:latin typeface="Tahoma"/>
                <a:cs typeface="Tahoma"/>
              </a:rPr>
              <a:t>&amp; </a:t>
            </a:r>
            <a:r>
              <a:rPr dirty="0" sz="1600" spc="20">
                <a:latin typeface="Tahoma"/>
                <a:cs typeface="Tahoma"/>
              </a:rPr>
              <a:t>Reduces </a:t>
            </a:r>
            <a:r>
              <a:rPr dirty="0" sz="1600" spc="10">
                <a:latin typeface="Tahoma"/>
                <a:cs typeface="Tahoma"/>
              </a:rPr>
              <a:t>reliance </a:t>
            </a:r>
            <a:r>
              <a:rPr dirty="0" sz="1600" spc="-5">
                <a:latin typeface="Tahoma"/>
                <a:cs typeface="Tahoma"/>
              </a:rPr>
              <a:t>on </a:t>
            </a:r>
            <a:r>
              <a:rPr dirty="0" sz="1600" spc="15">
                <a:latin typeface="Tahoma"/>
                <a:cs typeface="Tahoma"/>
              </a:rPr>
              <a:t>mass- 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p</a:t>
            </a:r>
            <a:r>
              <a:rPr dirty="0" sz="1600" spc="-40">
                <a:latin typeface="Tahoma"/>
                <a:cs typeface="Tahoma"/>
              </a:rPr>
              <a:t>r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20">
                <a:latin typeface="Tahoma"/>
                <a:cs typeface="Tahoma"/>
              </a:rPr>
              <a:t>duced</a:t>
            </a:r>
            <a:r>
              <a:rPr dirty="0" sz="1600" spc="-140">
                <a:latin typeface="Tahoma"/>
                <a:cs typeface="Tahoma"/>
              </a:rPr>
              <a:t> </a:t>
            </a:r>
            <a:r>
              <a:rPr dirty="0" sz="1600" spc="-135">
                <a:latin typeface="Tahoma"/>
                <a:cs typeface="Tahoma"/>
              </a:rPr>
              <a:t>g</a:t>
            </a:r>
            <a:r>
              <a:rPr dirty="0" sz="1600" spc="5">
                <a:latin typeface="Tahoma"/>
                <a:cs typeface="Tahoma"/>
              </a:rPr>
              <a:t>oo</a:t>
            </a:r>
            <a:r>
              <a:rPr dirty="0" sz="1600" spc="35">
                <a:latin typeface="Tahoma"/>
                <a:cs typeface="Tahoma"/>
              </a:rPr>
              <a:t>ds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</a:t>
            </a:r>
            <a:r>
              <a:rPr dirty="0" sz="1600" spc="20">
                <a:latin typeface="Tahoma"/>
                <a:cs typeface="Tahoma"/>
              </a:rPr>
              <a:t>l</a:t>
            </a:r>
            <a:r>
              <a:rPr dirty="0" sz="1600" spc="35">
                <a:latin typeface="Tahoma"/>
                <a:cs typeface="Tahoma"/>
              </a:rPr>
              <a:t>so</a:t>
            </a:r>
            <a:r>
              <a:rPr dirty="0" sz="1600" spc="-180">
                <a:latin typeface="Tahoma"/>
                <a:cs typeface="Tahoma"/>
              </a:rPr>
              <a:t> </a:t>
            </a:r>
            <a:r>
              <a:rPr dirty="0" sz="1600" spc="-80">
                <a:latin typeface="Tahoma"/>
                <a:cs typeface="Tahoma"/>
              </a:rPr>
              <a:t>r</a:t>
            </a:r>
            <a:r>
              <a:rPr dirty="0" sz="1600" spc="-5">
                <a:latin typeface="Tahoma"/>
                <a:cs typeface="Tahoma"/>
              </a:rPr>
              <a:t>educing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th</a:t>
            </a:r>
            <a:r>
              <a:rPr dirty="0" sz="1600" spc="-15">
                <a:latin typeface="Tahoma"/>
                <a:cs typeface="Tahoma"/>
              </a:rPr>
              <a:t>e</a:t>
            </a:r>
            <a:r>
              <a:rPr dirty="0" sz="1600" spc="-175">
                <a:latin typeface="Tahoma"/>
                <a:cs typeface="Tahoma"/>
              </a:rPr>
              <a:t> </a:t>
            </a:r>
            <a:r>
              <a:rPr dirty="0" sz="1600" spc="-15">
                <a:latin typeface="Tahoma"/>
                <a:cs typeface="Tahoma"/>
              </a:rPr>
              <a:t>usa</a:t>
            </a:r>
            <a:r>
              <a:rPr dirty="0" sz="1600" spc="-30">
                <a:latin typeface="Tahoma"/>
                <a:cs typeface="Tahoma"/>
              </a:rPr>
              <a:t>g</a:t>
            </a:r>
            <a:r>
              <a:rPr dirty="0" sz="1600" spc="-5">
                <a:latin typeface="Tahoma"/>
                <a:cs typeface="Tahoma"/>
              </a:rPr>
              <a:t>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o</a:t>
            </a:r>
            <a:r>
              <a:rPr dirty="0" sz="1600" spc="-30">
                <a:latin typeface="Tahoma"/>
                <a:cs typeface="Tahoma"/>
              </a:rPr>
              <a:t>f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n</a:t>
            </a:r>
            <a:r>
              <a:rPr dirty="0" sz="1600" spc="-15">
                <a:latin typeface="Tahoma"/>
                <a:cs typeface="Tahoma"/>
              </a:rPr>
              <a:t>o</a:t>
            </a:r>
            <a:r>
              <a:rPr dirty="0" sz="1600" spc="-15">
                <a:latin typeface="Tahoma"/>
                <a:cs typeface="Tahoma"/>
              </a:rPr>
              <a:t>n</a:t>
            </a:r>
            <a:r>
              <a:rPr dirty="0" sz="1600" spc="-150">
                <a:latin typeface="Tahoma"/>
                <a:cs typeface="Tahoma"/>
              </a:rPr>
              <a:t> </a:t>
            </a:r>
            <a:r>
              <a:rPr dirty="0" sz="1600" spc="5">
                <a:latin typeface="Tahoma"/>
                <a:cs typeface="Tahoma"/>
              </a:rPr>
              <a:t>ecof</a:t>
            </a:r>
            <a:r>
              <a:rPr dirty="0" sz="1600" spc="-5">
                <a:latin typeface="Tahoma"/>
                <a:cs typeface="Tahoma"/>
              </a:rPr>
              <a:t>r</a:t>
            </a:r>
            <a:r>
              <a:rPr dirty="0" sz="1600" spc="10">
                <a:latin typeface="Tahoma"/>
                <a:cs typeface="Tahoma"/>
              </a:rPr>
              <a:t>iend</a:t>
            </a:r>
            <a:r>
              <a:rPr dirty="0" sz="1600" spc="10">
                <a:latin typeface="Tahoma"/>
                <a:cs typeface="Tahoma"/>
              </a:rPr>
              <a:t>l</a:t>
            </a:r>
            <a:r>
              <a:rPr dirty="0" sz="1600" spc="-60">
                <a:latin typeface="Tahoma"/>
                <a:cs typeface="Tahoma"/>
              </a:rPr>
              <a:t>y  </a:t>
            </a:r>
            <a:r>
              <a:rPr dirty="0" sz="1600">
                <a:latin typeface="Tahoma"/>
                <a:cs typeface="Tahoma"/>
              </a:rPr>
              <a:t>materials.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468" y="759714"/>
            <a:ext cx="1355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Benefits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spc="5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0921" y="780034"/>
            <a:ext cx="1236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Impact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30321" y="60705"/>
            <a:ext cx="52920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IM</a:t>
            </a:r>
            <a:r>
              <a:rPr dirty="0" spc="-270"/>
              <a:t>P</a:t>
            </a:r>
            <a:r>
              <a:rPr dirty="0" spc="-5"/>
              <a:t>ACT</a:t>
            </a:r>
            <a:r>
              <a:rPr dirty="0" spc="-270"/>
              <a:t> </a:t>
            </a:r>
            <a:r>
              <a:rPr dirty="0" spc="-5"/>
              <a:t>AND</a:t>
            </a:r>
            <a:r>
              <a:rPr dirty="0"/>
              <a:t> BENEFITS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6431114"/>
            <a:ext cx="12192000" cy="427355"/>
            <a:chOff x="0" y="6431114"/>
            <a:chExt cx="12192000" cy="4273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52611"/>
              <a:ext cx="12189714" cy="4031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6431114"/>
              <a:ext cx="12192000" cy="427355"/>
            </a:xfrm>
            <a:custGeom>
              <a:avLst/>
              <a:gdLst/>
              <a:ahLst/>
              <a:cxnLst/>
              <a:rect l="l" t="t" r="r" b="b"/>
              <a:pathLst>
                <a:path w="12192000" h="427354">
                  <a:moveTo>
                    <a:pt x="12192000" y="0"/>
                  </a:moveTo>
                  <a:lnTo>
                    <a:pt x="0" y="0"/>
                  </a:lnTo>
                  <a:lnTo>
                    <a:pt x="0" y="426885"/>
                  </a:lnTo>
                  <a:lnTo>
                    <a:pt x="12192000" y="42688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7791" y="33078"/>
            <a:ext cx="1476690" cy="6674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39" y="735355"/>
            <a:ext cx="11617325" cy="551370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95" b="1">
                <a:latin typeface="Tahoma"/>
                <a:cs typeface="Tahoma"/>
              </a:rPr>
              <a:t>S</a:t>
            </a:r>
            <a:r>
              <a:rPr dirty="0" sz="1600" spc="-95" b="1">
                <a:latin typeface="Tahoma"/>
                <a:cs typeface="Tahoma"/>
              </a:rPr>
              <a:t>hipping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40" b="1">
                <a:latin typeface="Tahoma"/>
                <a:cs typeface="Tahoma"/>
              </a:rPr>
              <a:t>cost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comparison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between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DOP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and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00" b="1">
                <a:latin typeface="Tahoma"/>
                <a:cs typeface="Tahoma"/>
              </a:rPr>
              <a:t>private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organization:</a:t>
            </a:r>
            <a:r>
              <a:rPr dirty="0" sz="1600" spc="-60" b="1">
                <a:latin typeface="Tahoma"/>
                <a:cs typeface="Tahoma"/>
              </a:rPr>
              <a:t> </a:t>
            </a:r>
            <a:r>
              <a:rPr dirty="0" sz="1600" spc="-35">
                <a:latin typeface="Tahoma"/>
                <a:cs typeface="Tahoma"/>
              </a:rPr>
              <a:t>Indian</a:t>
            </a:r>
            <a:r>
              <a:rPr dirty="0" sz="1600" spc="-1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Post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VS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FedEx</a:t>
            </a:r>
            <a:endParaRPr sz="1600">
              <a:latin typeface="Tahoma"/>
              <a:cs typeface="Tahoma"/>
            </a:endParaRPr>
          </a:p>
          <a:p>
            <a:pPr lvl="1" marL="733425" indent="-343535">
              <a:lnSpc>
                <a:spcPct val="100000"/>
              </a:lnSpc>
              <a:spcBef>
                <a:spcPts val="965"/>
              </a:spcBef>
              <a:buFont typeface="Wingdings"/>
              <a:buChar char=""/>
              <a:tabLst>
                <a:tab pos="733425" algn="l"/>
                <a:tab pos="734060" algn="l"/>
              </a:tabLst>
            </a:pPr>
            <a:r>
              <a:rPr dirty="0" sz="1600" spc="-35">
                <a:latin typeface="Tahoma"/>
                <a:cs typeface="Tahoma"/>
              </a:rPr>
              <a:t>Indian</a:t>
            </a:r>
            <a:r>
              <a:rPr dirty="0" sz="1600" spc="-13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Post:</a:t>
            </a:r>
            <a:r>
              <a:rPr dirty="0" sz="1600" spc="-9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https://www.indiapost.gov.in/VAS/Pages/calculatePostage.aspx</a:t>
            </a:r>
            <a:endParaRPr sz="1600">
              <a:latin typeface="Tahoma"/>
              <a:cs typeface="Tahoma"/>
            </a:endParaRPr>
          </a:p>
          <a:p>
            <a:pPr lvl="1" marL="733425" indent="-34353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733425" algn="l"/>
                <a:tab pos="734060" algn="l"/>
              </a:tabLst>
            </a:pPr>
            <a:r>
              <a:rPr dirty="0" sz="1600" spc="-40">
                <a:latin typeface="Tahoma"/>
                <a:cs typeface="Tahoma"/>
              </a:rPr>
              <a:t>FedEx:</a:t>
            </a:r>
            <a:r>
              <a:rPr dirty="0" sz="1600" spc="-16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/>
              </a:rPr>
              <a:t>https://www.fedex.com/en-us/shipping/international/understanding-international-shipping-cost.html</a:t>
            </a:r>
            <a:endParaRPr sz="1600">
              <a:latin typeface="Tahoma"/>
              <a:cs typeface="Tahoma"/>
            </a:endParaRPr>
          </a:p>
          <a:p>
            <a:pPr marL="355600" marR="530225" indent="-342900">
              <a:lnSpc>
                <a:spcPct val="150000"/>
              </a:lnSpc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65" b="1">
                <a:latin typeface="Tahoma"/>
                <a:cs typeface="Tahoma"/>
              </a:rPr>
              <a:t>Challenges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60" b="1">
                <a:latin typeface="Tahoma"/>
                <a:cs typeface="Tahoma"/>
              </a:rPr>
              <a:t>faced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114" b="1">
                <a:latin typeface="Tahoma"/>
                <a:cs typeface="Tahoma"/>
              </a:rPr>
              <a:t>by</a:t>
            </a:r>
            <a:r>
              <a:rPr dirty="0" sz="1600" spc="-145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artisans:</a:t>
            </a:r>
            <a:r>
              <a:rPr dirty="0" sz="1600" spc="-10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The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Challenges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Faced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Artisans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1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In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Developing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Countries</a:t>
            </a:r>
            <a:r>
              <a:rPr dirty="0" u="sng" sz="1600" spc="-1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18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|</a:t>
            </a:r>
            <a:r>
              <a:rPr dirty="0" u="sng" sz="1600" spc="-1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Vceela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-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Online</a:t>
            </a:r>
            <a:r>
              <a:rPr dirty="0" u="sng" sz="1600" spc="-1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marketplace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for </a:t>
            </a:r>
            <a:r>
              <a:rPr dirty="0" sz="1600" spc="-484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handicrafts</a:t>
            </a:r>
            <a:r>
              <a:rPr dirty="0" u="sng" sz="1600" spc="-1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artisans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and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5"/>
              </a:rPr>
              <a:t>artists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65" b="1">
                <a:latin typeface="Tahoma"/>
                <a:cs typeface="Tahoma"/>
              </a:rPr>
              <a:t>Challenges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and</a:t>
            </a:r>
            <a:r>
              <a:rPr dirty="0" sz="1600" spc="-130" b="1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benefits</a:t>
            </a:r>
            <a:r>
              <a:rPr dirty="0" sz="1600" spc="-140" b="1">
                <a:latin typeface="Tahoma"/>
                <a:cs typeface="Tahoma"/>
              </a:rPr>
              <a:t> </a:t>
            </a:r>
            <a:r>
              <a:rPr dirty="0" sz="1600" spc="-80" b="1">
                <a:latin typeface="Tahoma"/>
                <a:cs typeface="Tahoma"/>
              </a:rPr>
              <a:t>of</a:t>
            </a:r>
            <a:r>
              <a:rPr dirty="0" sz="1600" spc="-135" b="1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overseas</a:t>
            </a:r>
            <a:r>
              <a:rPr dirty="0" sz="1600" spc="-150" b="1">
                <a:latin typeface="Tahoma"/>
                <a:cs typeface="Tahoma"/>
              </a:rPr>
              <a:t> </a:t>
            </a:r>
            <a:r>
              <a:rPr dirty="0" sz="1600" spc="-85" b="1">
                <a:latin typeface="Tahoma"/>
                <a:cs typeface="Tahoma"/>
              </a:rPr>
              <a:t>shipping:</a:t>
            </a:r>
            <a:r>
              <a:rPr dirty="0" sz="1600" spc="-13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The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Benefits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And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Challenges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Of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Exporting</a:t>
            </a:r>
            <a:r>
              <a:rPr dirty="0" u="sng" sz="1600" spc="-1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Handmade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Products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Overseas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18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||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Rural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Hand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m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</a:t>
            </a:r>
            <a:r>
              <a:rPr dirty="0" u="sng" sz="16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-</a:t>
            </a:r>
            <a:r>
              <a:rPr dirty="0" u="sng" sz="16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edefin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</a:t>
            </a:r>
            <a:r>
              <a:rPr dirty="0" u="sng" sz="1600" spc="-1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</a:t>
            </a:r>
            <a:r>
              <a:rPr dirty="0" u="sng" sz="1600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p</a:t>
            </a:r>
            <a:r>
              <a:rPr dirty="0" u="sng" sz="1600" spc="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dirty="0" u="sng" sz="1600" spc="-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y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o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dirty="0" u="sng" sz="1600" spc="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i</a:t>
            </a:r>
            <a:r>
              <a:rPr dirty="0" u="sng" sz="1600" spc="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u</a:t>
            </a:r>
            <a:r>
              <a:rPr dirty="0" u="sng" sz="1600" spc="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t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i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na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dirty="0" u="sng" sz="1600" spc="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l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e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B</a:t>
            </a:r>
            <a:r>
              <a:rPr dirty="0" u="sng" sz="16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r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an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d</a:t>
            </a:r>
            <a:r>
              <a:rPr dirty="0" u="sng" sz="1600" spc="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/>
              </a:rPr>
              <a:t>s</a:t>
            </a:r>
            <a:endParaRPr sz="1600">
              <a:latin typeface="Tahoma"/>
              <a:cs typeface="Tahoma"/>
            </a:endParaRPr>
          </a:p>
          <a:p>
            <a:pPr marL="355600" marR="224154" indent="-342900">
              <a:lnSpc>
                <a:spcPct val="150000"/>
              </a:lnSpc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75" b="1">
                <a:latin typeface="Tahoma"/>
                <a:cs typeface="Tahoma"/>
                <a:hlinkClick r:id="rId7"/>
              </a:rPr>
              <a:t>Artisans</a:t>
            </a:r>
            <a:r>
              <a:rPr dirty="0" sz="1600" spc="-130" b="1">
                <a:latin typeface="Tahoma"/>
                <a:cs typeface="Tahoma"/>
                <a:hlinkClick r:id="rId7"/>
              </a:rPr>
              <a:t> </a:t>
            </a:r>
            <a:r>
              <a:rPr dirty="0" sz="1600" spc="-90" b="1">
                <a:latin typeface="Tahoma"/>
                <a:cs typeface="Tahoma"/>
                <a:hlinkClick r:id="rId7"/>
              </a:rPr>
              <a:t>data</a:t>
            </a:r>
            <a:r>
              <a:rPr dirty="0" sz="1600" spc="-110" b="1">
                <a:latin typeface="Tahoma"/>
                <a:cs typeface="Tahoma"/>
                <a:hlinkClick r:id="rId7"/>
              </a:rPr>
              <a:t> </a:t>
            </a:r>
            <a:r>
              <a:rPr dirty="0" sz="1600" spc="-65" b="1">
                <a:latin typeface="Tahoma"/>
                <a:cs typeface="Tahoma"/>
                <a:hlinkClick r:id="rId7"/>
              </a:rPr>
              <a:t>analysis:</a:t>
            </a:r>
            <a:r>
              <a:rPr dirty="0" sz="1600" spc="-110" b="1">
                <a:solidFill>
                  <a:srgbClr val="0000FF"/>
                </a:solidFill>
                <a:latin typeface="Tahoma"/>
                <a:cs typeface="Tahoma"/>
                <a:hlinkClick r:id="rId7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Artisans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India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and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their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quest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for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growth: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Understanding</a:t>
            </a:r>
            <a:r>
              <a:rPr dirty="0" u="sng" sz="1600" spc="-1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the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current</a:t>
            </a:r>
            <a:r>
              <a:rPr dirty="0" u="sng" sz="1600" spc="-1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set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of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capabilities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among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Indian </a:t>
            </a:r>
            <a:r>
              <a:rPr dirty="0" sz="1600" spc="-484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artisans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to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adopt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digital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technology</a:t>
            </a:r>
            <a:r>
              <a:rPr dirty="0" u="sng" sz="1600" spc="-1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solutions</a:t>
            </a:r>
            <a:r>
              <a:rPr dirty="0" u="sng" sz="1600" spc="-1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–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Catalyst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Atal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Incubation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Centre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7"/>
              </a:rPr>
              <a:t>(catalystaic.org)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80" b="1">
                <a:latin typeface="Tahoma"/>
                <a:cs typeface="Tahoma"/>
              </a:rPr>
              <a:t>Diaspora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85" b="1">
                <a:latin typeface="Tahoma"/>
                <a:cs typeface="Tahoma"/>
              </a:rPr>
              <a:t>Problem:</a:t>
            </a:r>
            <a:r>
              <a:rPr dirty="0" sz="1600" spc="-1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Problem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NRIs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Face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While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Shopping</a:t>
            </a:r>
            <a:r>
              <a:rPr dirty="0" u="sng" sz="1600" spc="-1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from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Indian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Online</a:t>
            </a:r>
            <a:r>
              <a:rPr dirty="0" u="sng" sz="1600" spc="-1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Websites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and</a:t>
            </a:r>
            <a:r>
              <a:rPr dirty="0" u="sng" sz="1600" spc="-1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How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Forward</a:t>
            </a:r>
            <a:r>
              <a:rPr dirty="0" u="sng" sz="1600" spc="-1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Parcel</a:t>
            </a:r>
            <a:r>
              <a:rPr dirty="0" u="sng" sz="1600" spc="-18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Can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Help</a:t>
            </a:r>
            <a:r>
              <a:rPr dirty="0" u="sng" sz="1600" spc="-2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-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965"/>
              </a:spcBef>
            </a:pP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International</a:t>
            </a:r>
            <a:r>
              <a:rPr dirty="0" u="sng" sz="1600" spc="-1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Shipping</a:t>
            </a:r>
            <a:r>
              <a:rPr dirty="0" u="sng" sz="1600" spc="-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from</a:t>
            </a:r>
            <a:r>
              <a:rPr dirty="0" u="sng" sz="1600" spc="-1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dirty="0" u="sng" sz="16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8"/>
              </a:rPr>
              <a:t>INDIA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70" b="1">
                <a:latin typeface="Tahoma"/>
                <a:cs typeface="Tahoma"/>
              </a:rPr>
              <a:t>Handicrafts</a:t>
            </a:r>
            <a:r>
              <a:rPr dirty="0" sz="1600" spc="-120" b="1">
                <a:latin typeface="Tahoma"/>
                <a:cs typeface="Tahoma"/>
              </a:rPr>
              <a:t> </a:t>
            </a:r>
            <a:r>
              <a:rPr dirty="0" sz="1600" spc="-105" b="1">
                <a:latin typeface="Tahoma"/>
                <a:cs typeface="Tahoma"/>
              </a:rPr>
              <a:t>market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70" b="1">
                <a:latin typeface="Tahoma"/>
                <a:cs typeface="Tahoma"/>
              </a:rPr>
              <a:t>size:</a:t>
            </a:r>
            <a:r>
              <a:rPr dirty="0" sz="1600" spc="-1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Indian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Handicrafts</a:t>
            </a:r>
            <a:r>
              <a:rPr dirty="0" u="sng" sz="1600" spc="-1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Market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Size,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Share,</a:t>
            </a:r>
            <a:r>
              <a:rPr dirty="0" u="sng" sz="1600" spc="-1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Analysis,</a:t>
            </a:r>
            <a:r>
              <a:rPr dirty="0" u="sng" sz="1600" spc="-1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Report</a:t>
            </a:r>
            <a:r>
              <a:rPr dirty="0" u="sng" sz="1600" spc="-1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2024-2032</a:t>
            </a:r>
            <a:r>
              <a:rPr dirty="0" u="sng" sz="1600" spc="-1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9"/>
              </a:rPr>
              <a:t>(imarcgroup.com)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55" b="1">
                <a:latin typeface="Tahoma"/>
                <a:cs typeface="Tahoma"/>
              </a:rPr>
              <a:t>Global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95" b="1">
                <a:latin typeface="Tahoma"/>
                <a:cs typeface="Tahoma"/>
              </a:rPr>
              <a:t>Data</a:t>
            </a:r>
            <a:r>
              <a:rPr dirty="0" sz="1600" spc="-114" b="1">
                <a:latin typeface="Tahoma"/>
                <a:cs typeface="Tahoma"/>
              </a:rPr>
              <a:t> </a:t>
            </a:r>
            <a:r>
              <a:rPr dirty="0" sz="1600" spc="-90" b="1">
                <a:latin typeface="Tahoma"/>
                <a:cs typeface="Tahoma"/>
              </a:rPr>
              <a:t>about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80" b="1">
                <a:latin typeface="Tahoma"/>
                <a:cs typeface="Tahoma"/>
              </a:rPr>
              <a:t>diaspora:</a:t>
            </a:r>
            <a:r>
              <a:rPr dirty="0" sz="1600" spc="-11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0"/>
              </a:rPr>
              <a:t>https://www.weforum.org/agenda/2019/09/indian-diaspora-largest-in-world-numbers/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120" b="1">
                <a:latin typeface="Tahoma"/>
                <a:cs typeface="Tahoma"/>
              </a:rPr>
              <a:t>Indian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75" b="1">
                <a:latin typeface="Tahoma"/>
                <a:cs typeface="Tahoma"/>
              </a:rPr>
              <a:t>handicrafts</a:t>
            </a:r>
            <a:r>
              <a:rPr dirty="0" sz="1600" spc="-110" b="1">
                <a:latin typeface="Tahoma"/>
                <a:cs typeface="Tahoma"/>
              </a:rPr>
              <a:t> </a:t>
            </a:r>
            <a:r>
              <a:rPr dirty="0" sz="1600" spc="-95" b="1">
                <a:latin typeface="Tahoma"/>
                <a:cs typeface="Tahoma"/>
              </a:rPr>
              <a:t>data:</a:t>
            </a:r>
            <a:r>
              <a:rPr dirty="0" sz="1600" spc="-8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1"/>
              </a:rPr>
              <a:t>https://indian.handicrafts.gov.in/en</a:t>
            </a:r>
            <a:endParaRPr sz="1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dirty="0" sz="1600" spc="-75" b="1">
                <a:latin typeface="Tahoma"/>
                <a:cs typeface="Tahoma"/>
              </a:rPr>
              <a:t>Competitor</a:t>
            </a:r>
            <a:r>
              <a:rPr dirty="0" sz="1600" spc="-125" b="1">
                <a:latin typeface="Tahoma"/>
                <a:cs typeface="Tahoma"/>
              </a:rPr>
              <a:t> </a:t>
            </a:r>
            <a:r>
              <a:rPr dirty="0" sz="1600" spc="-65" b="1">
                <a:latin typeface="Tahoma"/>
                <a:cs typeface="Tahoma"/>
              </a:rPr>
              <a:t>analysis:</a:t>
            </a:r>
            <a:r>
              <a:rPr dirty="0" sz="1600" spc="-114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2"/>
              </a:rPr>
              <a:t>https://ruralhandmade.com/</a:t>
            </a:r>
            <a:r>
              <a:rPr dirty="0" sz="1600" spc="-110">
                <a:solidFill>
                  <a:srgbClr val="0000FF"/>
                </a:solidFill>
                <a:latin typeface="Tahoma"/>
                <a:cs typeface="Tahoma"/>
                <a:hlinkClick r:id="rId12"/>
              </a:rPr>
              <a:t> </a:t>
            </a:r>
            <a:r>
              <a:rPr dirty="0" sz="1600" spc="-5">
                <a:latin typeface="Tahoma"/>
                <a:cs typeface="Tahoma"/>
              </a:rPr>
              <a:t>and</a:t>
            </a:r>
            <a:r>
              <a:rPr dirty="0" sz="1600" spc="-1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16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13"/>
              </a:rPr>
              <a:t>https://www.directcreate.com/shop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25"/>
            <a:ext cx="2189606" cy="7533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78938" y="71373"/>
            <a:ext cx="683323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REFEREN</a:t>
            </a:r>
            <a:r>
              <a:rPr dirty="0"/>
              <a:t>C</a:t>
            </a:r>
            <a:r>
              <a:rPr dirty="0" spc="-5"/>
              <a:t>ES</a:t>
            </a:r>
            <a:r>
              <a:rPr dirty="0" spc="-220"/>
              <a:t> </a:t>
            </a:r>
            <a:r>
              <a:rPr dirty="0" spc="-5"/>
              <a:t>AND</a:t>
            </a:r>
            <a:r>
              <a:rPr dirty="0"/>
              <a:t> </a:t>
            </a:r>
            <a:r>
              <a:rPr dirty="0" spc="-5"/>
              <a:t>RESEA</a:t>
            </a:r>
            <a:r>
              <a:rPr dirty="0" spc="5"/>
              <a:t>R</a:t>
            </a:r>
            <a:r>
              <a:rPr dirty="0" spc="-5"/>
              <a:t>CH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6411632"/>
            <a:ext cx="12192000" cy="446405"/>
            <a:chOff x="0" y="6411632"/>
            <a:chExt cx="12192000" cy="446405"/>
          </a:xfrm>
        </p:grpSpPr>
        <p:pic>
          <p:nvPicPr>
            <p:cNvPr id="7" name="object 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6432803"/>
              <a:ext cx="12189714" cy="4229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411632"/>
              <a:ext cx="12192000" cy="446405"/>
            </a:xfrm>
            <a:custGeom>
              <a:avLst/>
              <a:gdLst/>
              <a:ahLst/>
              <a:cxnLst/>
              <a:rect l="l" t="t" r="r" b="b"/>
              <a:pathLst>
                <a:path w="12192000" h="446404">
                  <a:moveTo>
                    <a:pt x="12192000" y="0"/>
                  </a:moveTo>
                  <a:lnTo>
                    <a:pt x="0" y="0"/>
                  </a:lnTo>
                  <a:lnTo>
                    <a:pt x="0" y="446366"/>
                  </a:lnTo>
                  <a:lnTo>
                    <a:pt x="12192000" y="44636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5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0"/>
              <a:t> </a:t>
            </a:r>
            <a:r>
              <a:rPr dirty="0"/>
              <a:t>submission-</a:t>
            </a:r>
            <a:r>
              <a:rPr dirty="0" spc="-30"/>
              <a:t> </a:t>
            </a:r>
            <a:r>
              <a:rPr dirty="0" spc="-2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dc:title>Investor Pitch Deck Template</dc:title>
  <dcterms:created xsi:type="dcterms:W3CDTF">2024-12-12T12:24:20Z</dcterms:created>
  <dcterms:modified xsi:type="dcterms:W3CDTF">2024-12-12T12:24:20Z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2024-12-12T00:00:00Z</vt:filetime>
  </property>
</Properties>
</file>